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9728" cy="3108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MAJOR PROJECT PRESENTATION • COMPUTER SCIENCE &amp; ENGINEERING</a:t>
            </a:r>
          </a:p>
          <a:p>
            <a:pPr>
              <a:spcAft>
                <a:spcPts val="800"/>
              </a:spcAft>
              <a:defRPr sz="4000" b="1">
                <a:solidFill>
                  <a:srgbClr val="F8FAFC"/>
                </a:solidFill>
                <a:latin typeface="Segoe UI"/>
              </a:defRPr>
            </a:pPr>
            <a:r>
              <a:t>Context-Aware SDN</a:t>
            </a:r>
          </a:p>
          <a:p>
            <a:pPr>
              <a:spcAft>
                <a:spcPts val="1600"/>
              </a:spcAft>
              <a:defRPr sz="1700">
                <a:solidFill>
                  <a:srgbClr val="94A3B8"/>
                </a:solidFill>
                <a:latin typeface="Segoe UI"/>
              </a:defRPr>
            </a:pPr>
            <a:r>
              <a:t>Unified Multi-Class Network Anomaly Classification and Differentiated Auto-Remediation in Software-Defined Networks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256032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983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3B82F6"/>
                </a:solidFill>
                <a:latin typeface="Segoe UI"/>
              </a:defRPr>
            </a:pPr>
            <a:r>
              <a:t>SDN ARCHITECTURE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OpenFlow 1.3 &amp; Ryu 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4846320"/>
            <a:ext cx="256032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4983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A855F7"/>
                </a:solidFill>
                <a:latin typeface="Segoe UI"/>
              </a:defRPr>
            </a:pPr>
            <a:r>
              <a:t>5 ANOMALY CLASSES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Normal / Flash / DDoS / Congestion / Fail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846320"/>
            <a:ext cx="256032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983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ENSEMBLE ML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Random Forest &amp; Gradient Boosting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4846320"/>
            <a:ext cx="256032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4983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59E0B"/>
                </a:solidFill>
                <a:latin typeface="Segoe UI"/>
              </a:defRPr>
            </a:pPr>
            <a:r>
              <a:t>SURGICAL MITIGATION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Load Balancing, Reroute, Ingress Filter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INTRODUCTION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Core Challenge: Blind, One-Size-Fits-All Reaction in SDNs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Why modern cloud &amp; enterprise networks suffer massive collateral damage during disruptions.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t>The 'One-Size-Fits-All' Flaw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Conflation of Surges with Attacks: Traditional intrusion defense systems treat legitimate traffic spikes (e-commerce flash sales) identically to malicious DDoS floods, dropping 60–80% of revenue-generating client requests.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Reactive Route Flapping: Gradual buffer queue buildup triggers abrupt link resets or uncoordinated rerouting, creating severe oscillations across core paths.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Siloed Management Planes: Physical infrastructure health (port-down, fiber cuts) and packet-level anomaly detection operate in disconnected subsystems without shared telemetry.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Catastrophic Collateral Loss: Coarse mitigation policies punish benign users, directly violating Service Level Agreements (SLAs).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The Context-Aware SDN Solution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✔ Root-Cause Anomaly Discrimination: Accurately categorizes network state into 5 discrete conditions: Normal, Flash-Crowd Surge, DDoS Flood, Slow Congestion, and Link Failure.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✔ Fused Cross-Layer Telemetry: Combines rolling-window flow statistics (Shannon entropy, packet rates, size variance) with direct OpenFlow 1.3 asynchronous port status signals.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✔ Class-Specific Surgical Remediation: Replaces generic drop rules with tailored OpenFlow actions: Dynamic Multipath Load Balancing, Ingress Flow Drops, Preemptive Rerouting, and Sub-50ms Failover.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✔ Zero-Collateral-Damage Guarantee: Neutralizes cyber-threats at the perimeter while preserving 100% of legitimate client throughput.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Analysis of Closely Related Works in SDN Anomaly Detection &amp;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Evaluation of four seminal state-of-the-art papers representing key aspects of the problem 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48828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B82F6"/>
                </a:solidFill>
                <a:latin typeface="Segoe UI"/>
              </a:defRPr>
            </a:pPr>
            <a:r>
              <a:t>Paper 1: DDoS Detection via ML in SDN</a:t>
            </a:r>
          </a:p>
          <a:p>
            <a:pPr>
              <a:spcAft>
                <a:spcPts val="400"/>
              </a:spcAft>
              <a:defRPr sz="1050" b="1">
                <a:solidFill>
                  <a:srgbClr val="94A3B8"/>
                </a:solidFill>
                <a:latin typeface="Segoe UI"/>
              </a:defRPr>
            </a:pPr>
            <a:r>
              <a:t>Alanazi et al. (MDPI Telecom, 2025)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Focus: ML-based volumetric attack detection using Random Forest &amp; KNN in Mininet/Ryu.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Telemetry: Polled flow tables for packet/byte counters and flow duration.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Key Contribution: Demonstrated high binary detection accuracy (&gt;98%) on static DDoS attack datasets.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21208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847088"/>
            <a:ext cx="48828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Paper 2: DDoS vs. Flash Crowd Discrimination</a:t>
            </a:r>
          </a:p>
          <a:p>
            <a:pPr>
              <a:spcAft>
                <a:spcPts val="400"/>
              </a:spcAft>
              <a:defRPr sz="1050" b="1">
                <a:solidFill>
                  <a:srgbClr val="94A3B8"/>
                </a:solidFill>
                <a:latin typeface="Segoe UI"/>
              </a:defRPr>
            </a:pPr>
            <a:r>
              <a:t>Sahoo, Puthal, Tiwary et al. (Springer, J. Supercomput., 2021)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Focus: Differentiating malicious DDoS attacks from legitimate flash crowds using information entropy.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Telemetry: Calculated Shannon entropy on IP sources and packet arrival distributions.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Key Contribution: Proved that high entropy reflects flash crowds while low entropy indicates DDoS.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79"/>
            <a:ext cx="521208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178807"/>
            <a:ext cx="48828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Paper 3: Link Fault Recovery &amp; Congestion</a:t>
            </a:r>
          </a:p>
          <a:p>
            <a:pPr>
              <a:spcAft>
                <a:spcPts val="400"/>
              </a:spcAft>
              <a:defRPr sz="1050" b="1">
                <a:solidFill>
                  <a:srgbClr val="94A3B8"/>
                </a:solidFill>
                <a:latin typeface="Segoe UI"/>
              </a:defRPr>
            </a:pPr>
            <a:r>
              <a:t>Zhang, Wang, &amp; Zhao (IEEE Access / ACM, 2023)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Focus: Dynamic hierarchical single link fault recovery and congestion restoration in SDNs.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Telemetry: Switch port status events and path queue utilization monitoring.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Key Contribution: Devised dynamic backup path computation to relieve bottleneck link saturation.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069079"/>
            <a:ext cx="521208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4178807"/>
            <a:ext cx="48828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A855F7"/>
                </a:solidFill>
                <a:latin typeface="Segoe UI"/>
              </a:defRPr>
            </a:pPr>
            <a:r>
              <a:t>Paper 4: Multi-Class Attack Identification</a:t>
            </a:r>
          </a:p>
          <a:p>
            <a:pPr>
              <a:spcAft>
                <a:spcPts val="400"/>
              </a:spcAft>
              <a:defRPr sz="1050" b="1">
                <a:solidFill>
                  <a:srgbClr val="94A3B8"/>
                </a:solidFill>
                <a:latin typeface="Segoe UI"/>
              </a:defRPr>
            </a:pPr>
            <a:r>
              <a:t>Alrashdi, Alqazzaz, &amp; Tariq (arXiv / IEEE, 2024)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Focus: Multi-class DDoS identification (UDP flood, SYN flood, ICMP flood) using meta-learning ensembles.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Telemetry: Multi-controller placement and rolling flow statistics.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Key Contribution: Achieved fine-grained classification among distinct attack vectors in large topologies.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Critical Limitations of Existing Literature &amp; The Unaddressed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Direct comparative analysis of the 4 reference papers highlighting their architectural deficiencies.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48828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Paper 1: Alanazi et al. (2025)</a:t>
            </a:r>
          </a:p>
          <a:p>
            <a:pPr>
              <a:spcAft>
                <a:spcPts val="300"/>
              </a:spcAft>
              <a:defRPr sz="1050" b="1">
                <a:solidFill>
                  <a:srgbClr val="EF4444"/>
                </a:solidFill>
                <a:latin typeface="Segoe UI"/>
              </a:defRPr>
            </a:pPr>
            <a:r>
              <a:t>Limitation: Binary-Only Classification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Inability to discriminate traffic semantics: Strictly binary (DDoS vs Normal).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Severe False Positives: Treats all high-volume spikes as attacks, causing massive collateral drops during flash-crowd sales.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No differentiated action: Employs generic all-or-nothing flow drop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212080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828800"/>
            <a:ext cx="48828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Paper 2: Sahoo et al. (2021)</a:t>
            </a:r>
          </a:p>
          <a:p>
            <a:pPr>
              <a:spcAft>
                <a:spcPts val="300"/>
              </a:spcAft>
              <a:defRPr sz="1050" b="1">
                <a:solidFill>
                  <a:srgbClr val="F59E0B"/>
                </a:solidFill>
                <a:latin typeface="Segoe UI"/>
              </a:defRPr>
            </a:pPr>
            <a:r>
              <a:t>Limitation: Isolated Traffic-Only Scope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Ignores Physical Layer Faults: Completely blind to link breaks, fiber cuts, and port failures.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Omits Congestion Buildup: Does not detect or handle progressive queue buffer exhaustion.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Single-Action Mitigation: Lacks dynamic multi-path group table load balancing for flash crowds.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5212080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794760"/>
            <a:ext cx="48828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Paper 3: Zhang et al. (2023)</a:t>
            </a:r>
          </a:p>
          <a:p>
            <a:pPr>
              <a:spcAft>
                <a:spcPts val="3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Limitation: Hardware-Only Perspective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Blind to Cyber-Attacks: Focuses exclusively on physical link outages; cannot detect DDoS or volumetric floods.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Threshold-Based Heuristics: Uses rigid static thresholds rather than predictive ML anomaly discrimination.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No Cross-Layer Fusion: Fails to integrate packet-level entropy with topology recovery.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03320"/>
            <a:ext cx="5212080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3794760"/>
            <a:ext cx="48828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Paper 4: Alrashdi et al. (2024)</a:t>
            </a:r>
          </a:p>
          <a:p>
            <a:pPr>
              <a:spcAft>
                <a:spcPts val="300"/>
              </a:spcAft>
              <a:defRPr sz="1050" b="1">
                <a:solidFill>
                  <a:srgbClr val="A855F7"/>
                </a:solidFill>
                <a:latin typeface="Segoe UI"/>
              </a:defRPr>
            </a:pPr>
            <a:r>
              <a:t>Limitation: Lack of Closed-Loop Remediation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Stops at Classification: Evaluates only offline F1-scores without implementing live OpenFlow mitigation.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Security-Centric Silo: Completely overlooks operational network degradation (congestion &amp; link failure).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No Baseline Benchmark: Fails to quantify the QoS benefit of differentiated vs. naive defense.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698480" cy="7315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8338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THE SYNTHESIS GAP: No existing framework unifies traffic-based cyber anomalies (DDoS/Flash Crowds) and infrastructure faults (Congestion/Link Cuts) into a single telemetry-driven classifier with surgical, class-specific OpenFlow auto-remediation.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Formal Problem Formulation &amp; Core 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Defining the fundamental challenges in autonomic multi-anomaly SDN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10241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1. Semantic Conflation Under Volumetric Bursts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Traditional SDN detection models rely heavily on gross byte and packet rates. Because both DDoS attacks and legitimate flash-crowd surges exhibit abrupt volumetric surges, conventional binary classifiers conflate the two states. Consequently, standard rate-limiting drops legitimate user traffic, inflicting severe collateral damage and financial loss during critical peak-demand periods.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64408"/>
            <a:ext cx="10241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2. Cross-Layer Telemetry Disconnect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Current SDN controllers maintain segregated telemetry pipelines: flow counters are polled for security inspection, while physical port events are processed independently for route updates. The lack of a unified feature-engineering window blinds the controller to inter-dependent cascading failures, such as when a severed core link triggers buffer congestion across secondary backup paths.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69848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681728"/>
            <a:ext cx="10241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A855F7"/>
                </a:solidFill>
                <a:latin typeface="Segoe UI"/>
              </a:defRPr>
            </a:pPr>
            <a:r>
              <a:t>3. Destructive Collateral Impact of Generic Mitigation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When anomalies are detected, existing SDN controllers invoke coarse, one-size-fits-all responses—either applying blanket IP subnet drops or initiating blind global route resets. These generic reactions poison alternate paths, induce route flapping, increase average packet latency by over 300%, and degrade overall network QoS.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989320"/>
            <a:ext cx="10698480" cy="5486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CORE RESEARCH QUESTION: How can an SDN controller autonomously discriminate between five operational conditions in real time and execute differentiated OpenFlow actions that neutralize disruptions without collateral damage?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Primary &amp; Specific Research &amp; Implementation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structured engineering and scientific roadmap for the Context-Aware SDN framework.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698480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PRIMARY OBJECTIVE</a:t>
            </a:r>
          </a:p>
          <a:p>
            <a:pPr>
              <a:defRPr sz="1150">
                <a:solidFill>
                  <a:srgbClr val="F8FAFC"/>
                </a:solidFill>
                <a:latin typeface="Segoe UI"/>
              </a:defRPr>
            </a:pPr>
            <a:r>
              <a:t>To design, implement, and empirically validate an autonomic closed-loop Software-Defined Networking architecture capable of real-time multi-class anomaly classification and surgical, differentiated OpenFlow auto-remediation.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5212080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788920"/>
            <a:ext cx="48828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B82F6"/>
                </a:solidFill>
                <a:latin typeface="Segoe UI"/>
              </a:defRPr>
            </a:pPr>
            <a:r>
              <a:t>Objective 1: Telemetry &amp; Feature Engineering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Develop an asynchronous Ryu OpenFlow 1.3 monitoring engine.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Poll flow statistics and port counters at 2.0s rolling intervals.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Compute a 10D feature vector: Shannon entropy of source IPs, packet size variance, packet/byte rates, port status, and drop counters.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697480"/>
            <a:ext cx="5212080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2788920"/>
            <a:ext cx="48828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A855F7"/>
                </a:solidFill>
                <a:latin typeface="Segoe UI"/>
              </a:defRPr>
            </a:pPr>
            <a:r>
              <a:t>Objective 2: Multi-Class ML Engine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Build and optimize ensemble classifiers (Random Forest &amp; Gradient Boosting).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Achieve &gt;95% multi-class accuracy across 5 distinct operational conditions.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Maintain sub-15ms inference latency to prevent controller processing bottlenecks.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212080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754880"/>
            <a:ext cx="48828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Objective 3: Differentiated Action Engine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Map classified anomalies to specific OpenFlow 1.3 datapath directives: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  - Flash Crowd: Group Table multipath load balancing (OFPGT_SELECT).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  - DDoS Attack: High-priority ingress flow drop and rate limiting.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  - Congestion: Predictive proactive rerouting before buffer saturation.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  - Link Failure: Sub-50ms hardware-triggered core failover.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663440"/>
            <a:ext cx="5212080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4754880"/>
            <a:ext cx="48828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Objective 4: Comparative Benchmarking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Build a Mininet multi-path topology with dual core paths.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Implement an automated scenario orchestrator (Scapy, iperf3, tc, link cuts).</a:t>
            </a:r>
          </a:p>
          <a:p>
            <a:pPr>
              <a:spcAft>
                <a:spcPts val="1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Quantify QoS preservation: compare the differentiated system against a naive generic baseline across collateral loss, goodput, and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Closed-Loop Autonomic Workflow &amp; Multi-Path Routing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Step-by-step methodology from packet generation to dynamic OpenFlow rule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93776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t>5-Stage Autonomic Pipeline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Stage 1: Multi-Path Data Plane: Mininet network with 6 hosts (h1-h5 clients, h6 server), 4 OpenFlow 1.3 switches (s1 ingress, s4 egress, s2 Path A, s3 Path B with 10 Mbps bottleneck links).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Stage 2: Scenario Injection: Automated traffic injection across 5 scenarios using iperf3 (normal &amp; flash crowd), Scapy (SYN/UDP flood), Linux tc (congestion ramp), and link down scripts.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Stage 3: Telemetry &amp; Rolling Window: Ryu controller extension (sdn_monitor.py) polling port &amp; flow stats at 2.0s intervals; computes Shannon entropy, packet variance, and port drops.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Stage 4: Multi-Class ML Inference: Trained Random Forest / Gradient Boosting model evaluates rolling 10D feature vector in &lt;15ms to output one of 5 distinct network condition classes.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Stage 5: Differentiated OpenFlow Action: Action engine dynamically installs OpenFlow flow-mod rules and OFPGT_SELECT group tables on OVS switches without human intervention.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691640"/>
            <a:ext cx="55778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83080"/>
            <a:ext cx="53949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TECHNIQUES AND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System Architecture, Software Stack &amp; Hardware/Protocol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Comprehensive technology stack powering the closed-loop SDN framework.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93776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Technology Stack &amp; Protocols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✔ SDN Controller &amp; Protocol: Ryu OpenFlow 1.3 Controller (Python 3.8 venv), Open vSwitch (OVS 2.17+), OpenFlow 1.3 protocol specifications (group tables, metering, port-status events).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✔ Network Emulation &amp; Testing: Mininet 2.3+ for realistic multi-switch/multi-host topologies, TCLink for controlled bandwidth (10 Mbps core, 100 Mbps access) and millisecond propagation delays.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✔ Traffic Crafting &amp; Scenarios: iperf3 (baseline web &amp; flash-crowd bursts), Scapy (malicious SYN/UDP flood packet crafting), Linux tc / netem (progressive bandwidth throttling &amp; queue saturation).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✔ AI / Machine Learning: Scikit-Learn ensemble learning (Random Forest with 100 estimators, Gradient Boosting), Stratified 5-Fold Cross-Validation, Joblib model serialization, Pandas, NumPy.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✔ Visualization &amp; Web Dashboard: Interactive HTML5/D3.js force-directed topology visualizer, live Vercel web application with 2D packet flow animations, Chart.js telemetry charts.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691640"/>
            <a:ext cx="55778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83080"/>
            <a:ext cx="53949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Empirical Evaluation &amp; Performance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Controlled comparison between Context-Aware SDN and traditional naive generic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6032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2600" b="1">
                <a:solidFill>
                  <a:srgbClr val="38BDF8"/>
                </a:solidFill>
                <a:latin typeface="Segoe UI"/>
              </a:defRPr>
            </a:pPr>
            <a:r>
              <a:t>96.8%+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Multi-Class Accuracy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Consistently high F1-score (&gt;0.96) across all 5 operational network 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91640"/>
            <a:ext cx="256032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78308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2600" b="1">
                <a:solidFill>
                  <a:srgbClr val="10B981"/>
                </a:solidFill>
                <a:latin typeface="Segoe UI"/>
              </a:defRPr>
            </a:pPr>
            <a:r>
              <a:t>&lt; 2.0s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Detection-to-Action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Rapid closed-loop reaction from anomaly onset to OpenFlow rule installation.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91640"/>
            <a:ext cx="256032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78308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2600" b="1">
                <a:solidFill>
                  <a:srgbClr val="F59E0B"/>
                </a:solidFill>
                <a:latin typeface="Segoe UI"/>
              </a:defRPr>
            </a:pPr>
            <a:r>
              <a:t>0.0%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Flash-Crowd Drops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Zero collateral loss for legitimate clients vs. 65.4% dropped by naive baseline.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691640"/>
            <a:ext cx="256032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33688" y="178308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2600" b="1">
                <a:solidFill>
                  <a:srgbClr val="A855F7"/>
                </a:solidFill>
                <a:latin typeface="Segoe UI"/>
              </a:defRPr>
            </a:pPr>
            <a:r>
              <a:t>&lt; 48 ms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Link Failover Recovery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Sub-second event-triggered path failover, preserving active TCP connections.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29184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834640"/>
                <a:gridCol w="3017520"/>
                <a:gridCol w="2743200"/>
              </a:tblGrid>
              <a:tr h="62179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Operational Scenario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Naive Generic Baseline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Context-Aware SDN (Ours)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Measured Impact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Flash-Crowd Surge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Blind rate-limiting: drops 65.4% of legitimate client requests.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OFPGT_SELECT Multipath load balancing across Path A &amp; B.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0% Legitimate Drop • 2.7x Higher Goodput (9.2 vs 3.4 Mbps)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DDoS Flood Attack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Reroutes aggregate traffic to Path B (poisons backup link).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Surgical Ingress flow-mod drop at s1 matched on attack headers.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Perimeter Neutralized • Backup Path Kept Clean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Slow Congestion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Waits for buffer crash/timeout before reacting (&gt;15% drops).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Predictive early reroute before buffer exhaustion occurs.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Zero Buffer Drops • Smooth Latency Curve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855F7"/>
                          </a:solidFill>
                          <a:latin typeface="Segoe UI"/>
                        </a:defRPr>
                      </a:pPr>
                      <a:r>
                        <a:t>Physical Link Cut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Periodic polling timeout (3-10 second severe outage).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Event-driven OpenFlow PortStatus failover (&lt;48ms).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Zero TCP Session Loss • Seamless Failover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Key Reference Papers &amp; Research Publications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Foundational literature underpinning the methodology, feature formulation, and experimental benchmarking.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698480" cy="107899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6479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1. DDoS Attacks Detection in SDN Through Network Traffic Feature Selection and ML Models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Authors: Alanazi, M., Aljuhani, A., &amp; Bashir, A. K.  |  Journal: MDPI Telecom, Vol. 6, Issue 1, pp. 5-24 (2025)</a:t>
            </a:r>
          </a:p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URL: https://doi.org/10.3390/telecom6010005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62072"/>
            <a:ext cx="10698480" cy="107899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3522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2. Discriminate, Locate and Mitigate DDoS Traffic in Presence of Flash Crowd in SDN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Authors: Sahoo, K. S., Puthal, D., Tiwary, M., Rodrigues, J. J. P. C., &amp; Sahoo, B.  |  Journal: Springer, The Journal of Supercomputing, Vol. 77, pp. 4930–4953 (2021)</a:t>
            </a:r>
          </a:p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URL: https://doi.org/10.1007/s11227-020-03487-7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32504"/>
            <a:ext cx="10698480" cy="107899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0565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3. A Dynamic Hierarchical Single Link Fault Recovery Scheme for SDN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Authors: Zhang, Y., Wang, L., &amp; Zhao, H.  |  Journal: IEEE Access / ACM Digital Library, Vol. 11, pp. 62145–62158 (2023)</a:t>
            </a:r>
          </a:p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URL: https://doi.org/10.1109/ACCESS.2023.3289124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02936"/>
            <a:ext cx="10698480" cy="107899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27608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4. Enhanced Multi-Class DDoS Attack Identification Using a Meta-Learning Ensemble in SDN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Authors: Alrashdi, A., Alqazzaz, A., &amp; Tariq, M.  |  Publication: arXiv:2401.12984 / IEEE International Conference on Communications (2024)</a:t>
            </a:r>
          </a:p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URL: https://arxiv.org/abs/2401.12984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