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463040"/>
            <a:ext cx="109728" cy="29260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280160"/>
            <a:ext cx="10058400" cy="3291840"/>
          </a:xfrm>
          <a:prstGeom prst="rect">
            <a:avLst/>
          </a:prstGeom>
          <a:noFill/>
        </p:spPr>
        <p:txBody>
          <a:bodyPr wrap="square">
            <a:spAutoFit/>
          </a:bodyPr>
          <a:lstStyle/>
          <a:p>
            <a:pPr>
              <a:spcAft>
                <a:spcPts val="1200"/>
              </a:spcAft>
              <a:defRPr sz="1200" b="1">
                <a:solidFill>
                  <a:srgbClr val="38BDF8"/>
                </a:solidFill>
                <a:latin typeface="Segoe UI"/>
              </a:defRPr>
            </a:pPr>
            <a:r>
              <a:t>RESEARCH PROJECT DEFENSE &amp; TECHNICAL BRIEF</a:t>
            </a:r>
          </a:p>
          <a:p>
            <a:pPr>
              <a:spcAft>
                <a:spcPts val="1000"/>
              </a:spcAft>
              <a:defRPr sz="4400" b="1">
                <a:solidFill>
                  <a:srgbClr val="F8FAFC"/>
                </a:solidFill>
                <a:latin typeface="Segoe UI"/>
              </a:defRPr>
            </a:pPr>
            <a:r>
              <a:t>Context-Aware SDN</a:t>
            </a:r>
          </a:p>
          <a:p>
            <a:pPr>
              <a:spcAft>
                <a:spcPts val="1400"/>
              </a:spcAft>
              <a:defRPr sz="1800">
                <a:solidFill>
                  <a:srgbClr val="94A3B8"/>
                </a:solidFill>
                <a:latin typeface="Segoe UI"/>
              </a:defRPr>
            </a:pPr>
            <a:r>
              <a:t>Unified Multi-Class Network Anomaly Classification and Differentiated Auto-Remediation in Software-Defined Networks</a:t>
            </a:r>
          </a:p>
        </p:txBody>
      </p:sp>
      <p:sp>
        <p:nvSpPr>
          <p:cNvPr id="5" name="Rounded Rectangle 4"/>
          <p:cNvSpPr/>
          <p:nvPr/>
        </p:nvSpPr>
        <p:spPr>
          <a:xfrm>
            <a:off x="731520" y="4754880"/>
            <a:ext cx="2560320" cy="1280160"/>
          </a:xfrm>
          <a:prstGeom prst="roundRect">
            <a:avLst/>
          </a:prstGeom>
          <a:solidFill>
            <a:srgbClr val="1E293B"/>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892040"/>
            <a:ext cx="2286000" cy="1005840"/>
          </a:xfrm>
          <a:prstGeom prst="rect">
            <a:avLst/>
          </a:prstGeom>
          <a:noFill/>
        </p:spPr>
        <p:txBody>
          <a:bodyPr wrap="square">
            <a:spAutoFit/>
          </a:bodyPr>
          <a:lstStyle/>
          <a:p>
            <a:pPr>
              <a:spcAft>
                <a:spcPts val="400"/>
              </a:spcAft>
              <a:defRPr sz="1100" b="1">
                <a:solidFill>
                  <a:srgbClr val="3B82F6"/>
                </a:solidFill>
                <a:latin typeface="Segoe UI"/>
              </a:defRPr>
            </a:pPr>
            <a:r>
              <a:t>OPENFLOW 1.3</a:t>
            </a:r>
          </a:p>
          <a:p>
            <a:pPr>
              <a:defRPr sz="1000">
                <a:solidFill>
                  <a:srgbClr val="F8FAFC"/>
                </a:solidFill>
                <a:latin typeface="Segoe UI"/>
              </a:defRPr>
            </a:pPr>
            <a:r>
              <a:t>Ryu Controller Stack</a:t>
            </a:r>
          </a:p>
        </p:txBody>
      </p:sp>
      <p:sp>
        <p:nvSpPr>
          <p:cNvPr id="7" name="Rounded Rectangle 6"/>
          <p:cNvSpPr/>
          <p:nvPr/>
        </p:nvSpPr>
        <p:spPr>
          <a:xfrm>
            <a:off x="3429000" y="4754880"/>
            <a:ext cx="2560320" cy="1280160"/>
          </a:xfrm>
          <a:prstGeom prst="roundRect">
            <a:avLst/>
          </a:prstGeom>
          <a:solidFill>
            <a:srgbClr val="1E293B"/>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4892040"/>
            <a:ext cx="2286000" cy="1005840"/>
          </a:xfrm>
          <a:prstGeom prst="rect">
            <a:avLst/>
          </a:prstGeom>
          <a:noFill/>
        </p:spPr>
        <p:txBody>
          <a:bodyPr wrap="square">
            <a:spAutoFit/>
          </a:bodyPr>
          <a:lstStyle/>
          <a:p>
            <a:pPr>
              <a:spcAft>
                <a:spcPts val="400"/>
              </a:spcAft>
              <a:defRPr sz="1100" b="1">
                <a:solidFill>
                  <a:srgbClr val="A855F7"/>
                </a:solidFill>
                <a:latin typeface="Segoe UI"/>
              </a:defRPr>
            </a:pPr>
            <a:r>
              <a:t>5 ANOMALY CLASSES</a:t>
            </a:r>
          </a:p>
          <a:p>
            <a:pPr>
              <a:defRPr sz="1000">
                <a:solidFill>
                  <a:srgbClr val="F8FAFC"/>
                </a:solidFill>
                <a:latin typeface="Segoe UI"/>
              </a:defRPr>
            </a:pPr>
            <a:r>
              <a:t>Normal / Flash / DDoS / Congestion / Fail</a:t>
            </a:r>
          </a:p>
        </p:txBody>
      </p:sp>
      <p:sp>
        <p:nvSpPr>
          <p:cNvPr id="9" name="Rounded Rectangle 8"/>
          <p:cNvSpPr/>
          <p:nvPr/>
        </p:nvSpPr>
        <p:spPr>
          <a:xfrm>
            <a:off x="6126480" y="4754880"/>
            <a:ext cx="2560320" cy="128016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4892040"/>
            <a:ext cx="2286000" cy="1005840"/>
          </a:xfrm>
          <a:prstGeom prst="rect">
            <a:avLst/>
          </a:prstGeom>
          <a:noFill/>
        </p:spPr>
        <p:txBody>
          <a:bodyPr wrap="square">
            <a:spAutoFit/>
          </a:bodyPr>
          <a:lstStyle/>
          <a:p>
            <a:pPr>
              <a:spcAft>
                <a:spcPts val="400"/>
              </a:spcAft>
              <a:defRPr sz="1100" b="1">
                <a:solidFill>
                  <a:srgbClr val="10B981"/>
                </a:solidFill>
                <a:latin typeface="Segoe UI"/>
              </a:defRPr>
            </a:pPr>
            <a:r>
              <a:t>AUTONOMIC ML</a:t>
            </a:r>
          </a:p>
          <a:p>
            <a:pPr>
              <a:defRPr sz="1000">
                <a:solidFill>
                  <a:srgbClr val="F8FAFC"/>
                </a:solidFill>
                <a:latin typeface="Segoe UI"/>
              </a:defRPr>
            </a:pPr>
            <a:r>
              <a:t>Random Forest &amp; Gradient Boost</a:t>
            </a:r>
          </a:p>
        </p:txBody>
      </p:sp>
      <p:sp>
        <p:nvSpPr>
          <p:cNvPr id="11" name="Rounded Rectangle 10"/>
          <p:cNvSpPr/>
          <p:nvPr/>
        </p:nvSpPr>
        <p:spPr>
          <a:xfrm>
            <a:off x="8823960" y="4754880"/>
            <a:ext cx="2560320" cy="128016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0" y="4892040"/>
            <a:ext cx="2286000" cy="1005840"/>
          </a:xfrm>
          <a:prstGeom prst="rect">
            <a:avLst/>
          </a:prstGeom>
          <a:noFill/>
        </p:spPr>
        <p:txBody>
          <a:bodyPr wrap="square">
            <a:spAutoFit/>
          </a:bodyPr>
          <a:lstStyle/>
          <a:p>
            <a:pPr>
              <a:spcAft>
                <a:spcPts val="400"/>
              </a:spcAft>
              <a:defRPr sz="1100" b="1">
                <a:solidFill>
                  <a:srgbClr val="F59E0B"/>
                </a:solidFill>
                <a:latin typeface="Segoe UI"/>
              </a:defRPr>
            </a:pPr>
            <a:r>
              <a:t>DIFFERENTIATED ACTIONS</a:t>
            </a:r>
          </a:p>
          <a:p>
            <a:pPr>
              <a:defRPr sz="1000">
                <a:solidFill>
                  <a:srgbClr val="F8FAFC"/>
                </a:solidFill>
                <a:latin typeface="Segoe UI"/>
              </a:defRPr>
            </a:pPr>
            <a:r>
              <a:t>Dynamic Routing, LB &amp; Rate Limiting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square" lIns="0" tIns="0" rIns="0" bIns="0">
            <a:spAutoFit/>
          </a:bodyPr>
          <a:lstStyle/>
          <a:p>
            <a:pPr>
              <a:defRPr sz="1050" b="1">
                <a:solidFill>
                  <a:srgbClr val="38BDF8"/>
                </a:solidFill>
                <a:latin typeface="Segoe UI"/>
              </a:defRPr>
            </a:pPr>
            <a:r>
              <a:t>EXECUTIVE SUMMARY</a:t>
            </a:r>
          </a:p>
        </p:txBody>
      </p:sp>
      <p:sp>
        <p:nvSpPr>
          <p:cNvPr id="4" name="TextBox 3"/>
          <p:cNvSpPr txBox="1"/>
          <p:nvPr/>
        </p:nvSpPr>
        <p:spPr>
          <a:xfrm>
            <a:off x="731520" y="777240"/>
            <a:ext cx="10698480" cy="594360"/>
          </a:xfrm>
          <a:prstGeom prst="rect">
            <a:avLst/>
          </a:prstGeom>
          <a:noFill/>
        </p:spPr>
        <p:txBody>
          <a:bodyPr wrap="square" lIns="0" tIns="0" rIns="0" bIns="0">
            <a:spAutoFit/>
          </a:bodyPr>
          <a:lstStyle/>
          <a:p>
            <a:pPr>
              <a:defRPr sz="2400" b="1">
                <a:solidFill>
                  <a:srgbClr val="F8FAFC"/>
                </a:solidFill>
                <a:latin typeface="Segoe UI"/>
              </a:defRPr>
            </a:pPr>
            <a:r>
              <a:t>The Problem: The 'One-Size-Fits-All' Flaw in SDN Defense</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300">
                <a:solidFill>
                  <a:srgbClr val="94A3B8"/>
                </a:solidFill>
                <a:latin typeface="Segoe UI"/>
              </a:defRPr>
            </a:pPr>
            <a:r>
              <a:t>Current SDN architectures apply blind, uniform reactions to fundamentally different network disruptions.</a:t>
            </a:r>
          </a:p>
        </p:txBody>
      </p:sp>
      <p:sp>
        <p:nvSpPr>
          <p:cNvPr id="6" name="Rounded Rectangle 5"/>
          <p:cNvSpPr/>
          <p:nvPr/>
        </p:nvSpPr>
        <p:spPr>
          <a:xfrm>
            <a:off x="731520" y="1920240"/>
            <a:ext cx="5212080" cy="4297680"/>
          </a:xfrm>
          <a:prstGeom prst="roundRect">
            <a:avLst/>
          </a:prstGeom>
          <a:solidFill>
            <a:srgbClr val="1E293B"/>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4663440" cy="3931920"/>
          </a:xfrm>
          <a:prstGeom prst="rect">
            <a:avLst/>
          </a:prstGeom>
          <a:noFill/>
        </p:spPr>
        <p:txBody>
          <a:bodyPr wrap="square">
            <a:spAutoFit/>
          </a:bodyPr>
          <a:lstStyle/>
          <a:p>
            <a:pPr>
              <a:spcAft>
                <a:spcPts val="1400"/>
              </a:spcAft>
              <a:defRPr sz="1800" b="1">
                <a:solidFill>
                  <a:srgbClr val="EF4444"/>
                </a:solidFill>
                <a:latin typeface="Segoe UI"/>
              </a:defRPr>
            </a:pPr>
            <a:r>
              <a:t>Traditional SDN Response Pitfall</a:t>
            </a:r>
          </a:p>
          <a:p>
            <a:pPr>
              <a:spcAft>
                <a:spcPts val="1000"/>
              </a:spcAft>
              <a:defRPr sz="1200">
                <a:solidFill>
                  <a:srgbClr val="F8FAFC"/>
                </a:solidFill>
                <a:latin typeface="Segoe UI"/>
              </a:defRPr>
            </a:pPr>
            <a:r>
              <a:t>• Generic Blacklisting: Treats an e-commerce Flash-Crowd surge identically to a malicious DDoS flood, dropping legitimate revenue-generating traffic.</a:t>
            </a:r>
          </a:p>
          <a:p>
            <a:pPr>
              <a:spcAft>
                <a:spcPts val="1000"/>
              </a:spcAft>
              <a:defRPr sz="1200">
                <a:solidFill>
                  <a:srgbClr val="F8FAFC"/>
                </a:solidFill>
                <a:latin typeface="Segoe UI"/>
              </a:defRPr>
            </a:pPr>
            <a:r>
              <a:t>• Reactive Churn: Responds to gradual link congestion with abrupt rerouting, triggering route flapping and oscillations across core links.</a:t>
            </a:r>
          </a:p>
          <a:p>
            <a:pPr>
              <a:spcAft>
                <a:spcPts val="1000"/>
              </a:spcAft>
              <a:defRPr sz="1200">
                <a:solidFill>
                  <a:srgbClr val="F8FAFC"/>
                </a:solidFill>
                <a:latin typeface="Segoe UI"/>
              </a:defRPr>
            </a:pPr>
            <a:r>
              <a:t>• Isolated Silos: Infrastructure link failures (port down) and packet anomalies (DDoS) are treated by disconnected detection systems.</a:t>
            </a:r>
          </a:p>
          <a:p>
            <a:pPr>
              <a:spcAft>
                <a:spcPts val="1000"/>
              </a:spcAft>
              <a:defRPr sz="1200">
                <a:solidFill>
                  <a:srgbClr val="F8FAFC"/>
                </a:solidFill>
                <a:latin typeface="Segoe UI"/>
              </a:defRPr>
            </a:pPr>
            <a:r>
              <a:t>• Collateral Damage: Over 60-80% of legitimate traffic is frequently dropped during standard coarse-grained mitigation responses.</a:t>
            </a:r>
          </a:p>
        </p:txBody>
      </p:sp>
      <p:sp>
        <p:nvSpPr>
          <p:cNvPr id="8" name="Rounded Rectangle 7"/>
          <p:cNvSpPr/>
          <p:nvPr/>
        </p:nvSpPr>
        <p:spPr>
          <a:xfrm>
            <a:off x="6217920" y="1920240"/>
            <a:ext cx="5212080" cy="429768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03120"/>
            <a:ext cx="4663440" cy="3931920"/>
          </a:xfrm>
          <a:prstGeom prst="rect">
            <a:avLst/>
          </a:prstGeom>
          <a:noFill/>
        </p:spPr>
        <p:txBody>
          <a:bodyPr wrap="square">
            <a:spAutoFit/>
          </a:bodyPr>
          <a:lstStyle/>
          <a:p>
            <a:pPr>
              <a:spcAft>
                <a:spcPts val="1400"/>
              </a:spcAft>
              <a:defRPr sz="1800" b="1">
                <a:solidFill>
                  <a:srgbClr val="10B981"/>
                </a:solidFill>
                <a:latin typeface="Segoe UI"/>
              </a:defRPr>
            </a:pPr>
            <a:r>
              <a:t>The Context-Aware SDN Solution</a:t>
            </a:r>
          </a:p>
          <a:p>
            <a:pPr>
              <a:spcAft>
                <a:spcPts val="1000"/>
              </a:spcAft>
              <a:defRPr sz="1200">
                <a:solidFill>
                  <a:srgbClr val="F8FAFC"/>
                </a:solidFill>
                <a:latin typeface="Segoe UI"/>
              </a:defRPr>
            </a:pPr>
            <a:r>
              <a:t>✔ Fine-Grained Discrimination: Accurately distinguishes between Normal, Flash Crowds, DDoS Attacks, Slow Congestion, and Link Failures in real time.</a:t>
            </a:r>
          </a:p>
          <a:p>
            <a:pPr>
              <a:spcAft>
                <a:spcPts val="1000"/>
              </a:spcAft>
              <a:defRPr sz="1200">
                <a:solidFill>
                  <a:srgbClr val="F8FAFC"/>
                </a:solidFill>
                <a:latin typeface="Segoe UI"/>
              </a:defRPr>
            </a:pPr>
            <a:r>
              <a:t>✔ Differentiated Auto-Remediation: Applies surgical OpenFlow remedies: Multi-Path Load Balancing for surges, Targeted Ingress Filtering for DDoS, and Preemptive Rerouting for congestion.</a:t>
            </a:r>
          </a:p>
          <a:p>
            <a:pPr>
              <a:spcAft>
                <a:spcPts val="1000"/>
              </a:spcAft>
              <a:defRPr sz="1200">
                <a:solidFill>
                  <a:srgbClr val="F8FAFC"/>
                </a:solidFill>
                <a:latin typeface="Segoe UI"/>
              </a:defRPr>
            </a:pPr>
            <a:r>
              <a:t>✔ Unified Telemetry Pipeline: Simultaneously digests port-level status signals and rolling-window flow statistics via OpenFlow 1.3 counters.</a:t>
            </a:r>
          </a:p>
          <a:p>
            <a:pPr>
              <a:spcAft>
                <a:spcPts val="1000"/>
              </a:spcAft>
              <a:defRPr sz="1200">
                <a:solidFill>
                  <a:srgbClr val="F8FAFC"/>
                </a:solidFill>
                <a:latin typeface="Segoe UI"/>
              </a:defRPr>
            </a:pPr>
            <a:r>
              <a:t>✔ SLA Preservation: Eliminates collateral damage by protecting legitimate flows while neutralizing threats and bottlenecks autonomously.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square" lIns="0" tIns="0" rIns="0" bIns="0">
            <a:spAutoFit/>
          </a:bodyPr>
          <a:lstStyle/>
          <a:p>
            <a:pPr>
              <a:defRPr sz="1050" b="1">
                <a:solidFill>
                  <a:srgbClr val="38BDF8"/>
                </a:solidFill>
                <a:latin typeface="Segoe UI"/>
              </a:defRPr>
            </a:pPr>
            <a:r>
              <a:t>BACKGROUND &amp; LITERATURE</a:t>
            </a:r>
          </a:p>
        </p:txBody>
      </p:sp>
      <p:sp>
        <p:nvSpPr>
          <p:cNvPr id="4" name="TextBox 3"/>
          <p:cNvSpPr txBox="1"/>
          <p:nvPr/>
        </p:nvSpPr>
        <p:spPr>
          <a:xfrm>
            <a:off x="731520" y="777240"/>
            <a:ext cx="10698480" cy="594360"/>
          </a:xfrm>
          <a:prstGeom prst="rect">
            <a:avLst/>
          </a:prstGeom>
          <a:noFill/>
        </p:spPr>
        <p:txBody>
          <a:bodyPr wrap="square" lIns="0" tIns="0" rIns="0" bIns="0">
            <a:spAutoFit/>
          </a:bodyPr>
          <a:lstStyle/>
          <a:p>
            <a:pPr>
              <a:defRPr sz="2400" b="1">
                <a:solidFill>
                  <a:srgbClr val="F8FAFC"/>
                </a:solidFill>
                <a:latin typeface="Segoe UI"/>
              </a:defRPr>
            </a:pPr>
            <a:r>
              <a:t>Research Motivation &amp; State-of-the-Art Gaps</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300">
                <a:solidFill>
                  <a:srgbClr val="94A3B8"/>
                </a:solidFill>
                <a:latin typeface="Segoe UI"/>
              </a:defRPr>
            </a:pPr>
            <a:r>
              <a:t>Bridging the divide between binary anomaly detection and holistic autonomic SDN management.</a:t>
            </a:r>
          </a:p>
        </p:txBody>
      </p:sp>
      <p:sp>
        <p:nvSpPr>
          <p:cNvPr id="6" name="Rounded Rectangle 5"/>
          <p:cNvSpPr/>
          <p:nvPr/>
        </p:nvSpPr>
        <p:spPr>
          <a:xfrm>
            <a:off x="731520" y="1920240"/>
            <a:ext cx="3474720" cy="429768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03120"/>
            <a:ext cx="3108960" cy="3931920"/>
          </a:xfrm>
          <a:prstGeom prst="rect">
            <a:avLst/>
          </a:prstGeom>
          <a:noFill/>
        </p:spPr>
        <p:txBody>
          <a:bodyPr wrap="square">
            <a:spAutoFit/>
          </a:bodyPr>
          <a:lstStyle/>
          <a:p>
            <a:pPr>
              <a:spcAft>
                <a:spcPts val="1400"/>
              </a:spcAft>
              <a:defRPr sz="1500" b="1">
                <a:solidFill>
                  <a:srgbClr val="38BDF8"/>
                </a:solidFill>
                <a:latin typeface="Segoe UI"/>
              </a:defRPr>
            </a:pPr>
            <a:r>
              <a:t>GAP 1: Binary vs. Multi-Class Reality</a:t>
            </a:r>
          </a:p>
          <a:p>
            <a:pPr>
              <a:defRPr b="1" sz="1100">
                <a:solidFill>
                  <a:srgbClr val="94A3B8"/>
                </a:solidFill>
              </a:defRPr>
            </a:pPr>
            <a:r>
              <a:t>Existing Literature Focus:</a:t>
            </a:r>
          </a:p>
          <a:p>
            <a:pPr>
              <a:spcAft>
                <a:spcPts val="1400"/>
              </a:spcAft>
              <a:defRPr sz="1100">
                <a:solidFill>
                  <a:srgbClr val="F8FAFC"/>
                </a:solidFill>
              </a:defRPr>
            </a:pPr>
            <a:r>
              <a:t>Most published studies (MDPI 2025, Nature SciRep 2026) focus strictly on binary classification (DDoS vs Normal).</a:t>
            </a:r>
          </a:p>
          <a:p>
            <a:pPr>
              <a:defRPr b="1" sz="1100">
                <a:solidFill>
                  <a:srgbClr val="38BDF8"/>
                </a:solidFill>
              </a:defRPr>
            </a:pPr>
            <a:r>
              <a:t>Our Project Innovation:</a:t>
            </a:r>
          </a:p>
          <a:p>
            <a:pPr>
              <a:defRPr sz="1100">
                <a:solidFill>
                  <a:srgbClr val="F8FAFC"/>
                </a:solidFill>
              </a:defRPr>
            </a:pPr>
            <a:r>
              <a:t>Unifies 4 categorically distinct anomalies into a single multi-class decision engine, accounting for legitimate surges and hardware events.</a:t>
            </a:r>
          </a:p>
        </p:txBody>
      </p:sp>
      <p:sp>
        <p:nvSpPr>
          <p:cNvPr id="8" name="Rounded Rectangle 7"/>
          <p:cNvSpPr/>
          <p:nvPr/>
        </p:nvSpPr>
        <p:spPr>
          <a:xfrm>
            <a:off x="4343400" y="1920240"/>
            <a:ext cx="3474720" cy="429768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103120"/>
            <a:ext cx="3108960" cy="3931920"/>
          </a:xfrm>
          <a:prstGeom prst="rect">
            <a:avLst/>
          </a:prstGeom>
          <a:noFill/>
        </p:spPr>
        <p:txBody>
          <a:bodyPr wrap="square">
            <a:spAutoFit/>
          </a:bodyPr>
          <a:lstStyle/>
          <a:p>
            <a:pPr>
              <a:spcAft>
                <a:spcPts val="1400"/>
              </a:spcAft>
              <a:defRPr sz="1500" b="1">
                <a:solidFill>
                  <a:srgbClr val="F59E0B"/>
                </a:solidFill>
                <a:latin typeface="Segoe UI"/>
              </a:defRPr>
            </a:pPr>
            <a:r>
              <a:t>GAP 2: Segregated Telemetry Layers</a:t>
            </a:r>
          </a:p>
          <a:p>
            <a:pPr>
              <a:defRPr b="1" sz="1100">
                <a:solidFill>
                  <a:srgbClr val="94A3B8"/>
                </a:solidFill>
              </a:defRPr>
            </a:pPr>
            <a:r>
              <a:t>Existing Literature Focus:</a:t>
            </a:r>
          </a:p>
          <a:p>
            <a:pPr>
              <a:spcAft>
                <a:spcPts val="1400"/>
              </a:spcAft>
              <a:defRPr sz="1100">
                <a:solidFill>
                  <a:srgbClr val="F8FAFC"/>
                </a:solidFill>
              </a:defRPr>
            </a:pPr>
            <a:r>
              <a:t>Hardware failure restoration and traffic-based anomaly detection are treated as separate research domains.</a:t>
            </a:r>
          </a:p>
          <a:p>
            <a:pPr>
              <a:defRPr b="1" sz="1100">
                <a:solidFill>
                  <a:srgbClr val="F59E0B"/>
                </a:solidFill>
              </a:defRPr>
            </a:pPr>
            <a:r>
              <a:t>Our Project Innovation:</a:t>
            </a:r>
          </a:p>
          <a:p>
            <a:pPr>
              <a:defRPr sz="1100">
                <a:solidFill>
                  <a:srgbClr val="F8FAFC"/>
                </a:solidFill>
              </a:defRPr>
            </a:pPr>
            <a:r>
              <a:t>Fuses flow-level statistics (entropy, byte rates, packet sizes) with direct physical port-status signals inside Ryu.</a:t>
            </a:r>
          </a:p>
        </p:txBody>
      </p:sp>
      <p:sp>
        <p:nvSpPr>
          <p:cNvPr id="10" name="Rounded Rectangle 9"/>
          <p:cNvSpPr/>
          <p:nvPr/>
        </p:nvSpPr>
        <p:spPr>
          <a:xfrm>
            <a:off x="7955280" y="1920240"/>
            <a:ext cx="3474720" cy="429768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2103120"/>
            <a:ext cx="3108960" cy="3931920"/>
          </a:xfrm>
          <a:prstGeom prst="rect">
            <a:avLst/>
          </a:prstGeom>
          <a:noFill/>
        </p:spPr>
        <p:txBody>
          <a:bodyPr wrap="square">
            <a:spAutoFit/>
          </a:bodyPr>
          <a:lstStyle/>
          <a:p>
            <a:pPr>
              <a:spcAft>
                <a:spcPts val="1400"/>
              </a:spcAft>
              <a:defRPr sz="1500" b="1">
                <a:solidFill>
                  <a:srgbClr val="10B981"/>
                </a:solidFill>
                <a:latin typeface="Segoe UI"/>
              </a:defRPr>
            </a:pPr>
            <a:r>
              <a:t>GAP 3: Detection vs. Differentiated Action</a:t>
            </a:r>
          </a:p>
          <a:p>
            <a:pPr>
              <a:defRPr b="1" sz="1100">
                <a:solidFill>
                  <a:srgbClr val="94A3B8"/>
                </a:solidFill>
              </a:defRPr>
            </a:pPr>
            <a:r>
              <a:t>Existing Literature Focus:</a:t>
            </a:r>
          </a:p>
          <a:p>
            <a:pPr>
              <a:spcAft>
                <a:spcPts val="1400"/>
              </a:spcAft>
              <a:defRPr sz="1100">
                <a:solidFill>
                  <a:srgbClr val="F8FAFC"/>
                </a:solidFill>
              </a:defRPr>
            </a:pPr>
            <a:r>
              <a:t>Nearly all papers evaluate solely offline classification accuracy (F1-score) without proving live network mitigation.</a:t>
            </a:r>
          </a:p>
          <a:p>
            <a:pPr>
              <a:defRPr b="1" sz="1100">
                <a:solidFill>
                  <a:srgbClr val="10B981"/>
                </a:solidFill>
              </a:defRPr>
            </a:pPr>
            <a:r>
              <a:t>Our Project Innovation:</a:t>
            </a:r>
          </a:p>
          <a:p>
            <a:pPr>
              <a:defRPr sz="1100">
                <a:solidFill>
                  <a:srgbClr val="F8FAFC"/>
                </a:solidFill>
              </a:defRPr>
            </a:pPr>
            <a:r>
              <a:t>Proves end-to-end autonomic remediation via a live comparative evaluation between naive and differentiated response systems.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square" lIns="0" tIns="0" rIns="0" bIns="0">
            <a:spAutoFit/>
          </a:bodyPr>
          <a:lstStyle/>
          <a:p>
            <a:pPr>
              <a:defRPr sz="1050" b="1">
                <a:solidFill>
                  <a:srgbClr val="38BDF8"/>
                </a:solidFill>
                <a:latin typeface="Segoe UI"/>
              </a:defRPr>
            </a:pPr>
            <a:r>
              <a:t>SYSTEM ARCHITECTURE</a:t>
            </a:r>
          </a:p>
        </p:txBody>
      </p:sp>
      <p:sp>
        <p:nvSpPr>
          <p:cNvPr id="4" name="TextBox 3"/>
          <p:cNvSpPr txBox="1"/>
          <p:nvPr/>
        </p:nvSpPr>
        <p:spPr>
          <a:xfrm>
            <a:off x="731520" y="777240"/>
            <a:ext cx="10698480" cy="594360"/>
          </a:xfrm>
          <a:prstGeom prst="rect">
            <a:avLst/>
          </a:prstGeom>
          <a:noFill/>
        </p:spPr>
        <p:txBody>
          <a:bodyPr wrap="square" lIns="0" tIns="0" rIns="0" bIns="0">
            <a:spAutoFit/>
          </a:bodyPr>
          <a:lstStyle/>
          <a:p>
            <a:pPr>
              <a:defRPr sz="2400" b="1">
                <a:solidFill>
                  <a:srgbClr val="F8FAFC"/>
                </a:solidFill>
                <a:latin typeface="Segoe UI"/>
              </a:defRPr>
            </a:pPr>
            <a:r>
              <a:t>Closed-Loop Autonomic SDN Framework</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300">
                <a:solidFill>
                  <a:srgbClr val="94A3B8"/>
                </a:solidFill>
                <a:latin typeface="Segoe UI"/>
              </a:defRPr>
            </a:pPr>
            <a:r>
              <a:t>Continuous end-to-end feedback loop: Telemetry -&gt; Feature Engineering -&gt; ML Inference -&gt; Differentiated Action.</a:t>
            </a:r>
          </a:p>
        </p:txBody>
      </p:sp>
      <p:sp>
        <p:nvSpPr>
          <p:cNvPr id="6" name="Rounded Rectangle 5"/>
          <p:cNvSpPr/>
          <p:nvPr/>
        </p:nvSpPr>
        <p:spPr>
          <a:xfrm>
            <a:off x="731520" y="1920240"/>
            <a:ext cx="2057400" cy="3657600"/>
          </a:xfrm>
          <a:prstGeom prst="roundRect">
            <a:avLst/>
          </a:prstGeom>
          <a:solidFill>
            <a:srgbClr val="1E293B"/>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2057400"/>
            <a:ext cx="1828800" cy="3383280"/>
          </a:xfrm>
          <a:prstGeom prst="rect">
            <a:avLst/>
          </a:prstGeom>
          <a:noFill/>
        </p:spPr>
        <p:txBody>
          <a:bodyPr wrap="square">
            <a:spAutoFit/>
          </a:bodyPr>
          <a:lstStyle/>
          <a:p>
            <a:pPr>
              <a:spcAft>
                <a:spcPts val="1000"/>
              </a:spcAft>
              <a:defRPr sz="1300" b="1">
                <a:solidFill>
                  <a:srgbClr val="3B82F6"/>
                </a:solidFill>
                <a:latin typeface="Segoe UI"/>
              </a:defRPr>
            </a:pPr>
            <a:r>
              <a:t>1. DATA PLANE</a:t>
            </a:r>
          </a:p>
          <a:p>
            <a:pPr>
              <a:spcAft>
                <a:spcPts val="300"/>
              </a:spcAft>
              <a:defRPr sz="1050">
                <a:solidFill>
                  <a:srgbClr val="F8FAFC"/>
                </a:solidFill>
                <a:latin typeface="Segoe UI"/>
              </a:defRPr>
            </a:pPr>
            <a:r>
              <a:t>Mininet Multi-Path Topology</a:t>
            </a:r>
          </a:p>
          <a:p>
            <a:pPr>
              <a:spcAft>
                <a:spcPts val="300"/>
              </a:spcAft>
              <a:defRPr sz="1050">
                <a:solidFill>
                  <a:srgbClr val="F8FAFC"/>
                </a:solidFill>
                <a:latin typeface="Segoe UI"/>
              </a:defRPr>
            </a:pPr>
            <a:r>
              <a:t>• 6 Hosts (h1-h5 clients, h6 server)</a:t>
            </a:r>
          </a:p>
          <a:p>
            <a:pPr>
              <a:spcAft>
                <a:spcPts val="300"/>
              </a:spcAft>
              <a:defRPr sz="1050">
                <a:solidFill>
                  <a:srgbClr val="F8FAFC"/>
                </a:solidFill>
                <a:latin typeface="Segoe UI"/>
              </a:defRPr>
            </a:pPr>
            <a:r>
              <a:t>• 4 OVS Switches (OpenFlow 1.3)</a:t>
            </a:r>
          </a:p>
          <a:p>
            <a:pPr>
              <a:spcAft>
                <a:spcPts val="300"/>
              </a:spcAft>
              <a:defRPr sz="1050">
                <a:solidFill>
                  <a:srgbClr val="F8FAFC"/>
                </a:solidFill>
                <a:latin typeface="Segoe UI"/>
              </a:defRPr>
            </a:pPr>
            <a:r>
              <a:t>• Dual Redundant Paths (A &amp; B)</a:t>
            </a:r>
          </a:p>
        </p:txBody>
      </p:sp>
      <p:sp>
        <p:nvSpPr>
          <p:cNvPr id="8" name="Rounded Rectangle 7"/>
          <p:cNvSpPr/>
          <p:nvPr/>
        </p:nvSpPr>
        <p:spPr>
          <a:xfrm>
            <a:off x="2907791" y="1920240"/>
            <a:ext cx="2057400" cy="365760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19" y="2057400"/>
            <a:ext cx="1828800" cy="3383280"/>
          </a:xfrm>
          <a:prstGeom prst="rect">
            <a:avLst/>
          </a:prstGeom>
          <a:noFill/>
        </p:spPr>
        <p:txBody>
          <a:bodyPr wrap="square">
            <a:spAutoFit/>
          </a:bodyPr>
          <a:lstStyle/>
          <a:p>
            <a:pPr>
              <a:spcAft>
                <a:spcPts val="1000"/>
              </a:spcAft>
              <a:defRPr sz="1300" b="1">
                <a:solidFill>
                  <a:srgbClr val="38BDF8"/>
                </a:solidFill>
                <a:latin typeface="Segoe UI"/>
              </a:defRPr>
            </a:pPr>
            <a:r>
              <a:t>2. TELEMETRY ENGINE</a:t>
            </a:r>
          </a:p>
          <a:p>
            <a:pPr>
              <a:spcAft>
                <a:spcPts val="300"/>
              </a:spcAft>
              <a:defRPr sz="1050">
                <a:solidFill>
                  <a:srgbClr val="F8FAFC"/>
                </a:solidFill>
                <a:latin typeface="Segoe UI"/>
              </a:defRPr>
            </a:pPr>
            <a:r>
              <a:t>Ryu Controller (sdn_monitor.py)</a:t>
            </a:r>
          </a:p>
          <a:p>
            <a:pPr>
              <a:spcAft>
                <a:spcPts val="300"/>
              </a:spcAft>
              <a:defRPr sz="1050">
                <a:solidFill>
                  <a:srgbClr val="F8FAFC"/>
                </a:solidFill>
                <a:latin typeface="Segoe UI"/>
              </a:defRPr>
            </a:pPr>
            <a:r>
              <a:t>• Polling flow &amp; port stats every 2.0s</a:t>
            </a:r>
          </a:p>
          <a:p>
            <a:pPr>
              <a:spcAft>
                <a:spcPts val="300"/>
              </a:spcAft>
              <a:defRPr sz="1050">
                <a:solidFill>
                  <a:srgbClr val="F8FAFC"/>
                </a:solidFill>
                <a:latin typeface="Segoe UI"/>
              </a:defRPr>
            </a:pPr>
            <a:r>
              <a:t>• OFPFlowStatsRequest</a:t>
            </a:r>
          </a:p>
          <a:p>
            <a:pPr>
              <a:spcAft>
                <a:spcPts val="300"/>
              </a:spcAft>
              <a:defRPr sz="1050">
                <a:solidFill>
                  <a:srgbClr val="F8FAFC"/>
                </a:solidFill>
                <a:latin typeface="Segoe UI"/>
              </a:defRPr>
            </a:pPr>
            <a:r>
              <a:t>• OFPPortStatsRequest</a:t>
            </a:r>
          </a:p>
          <a:p>
            <a:pPr>
              <a:spcAft>
                <a:spcPts val="300"/>
              </a:spcAft>
              <a:defRPr sz="1050">
                <a:solidFill>
                  <a:srgbClr val="F8FAFC"/>
                </a:solidFill>
                <a:latin typeface="Segoe UI"/>
              </a:defRPr>
            </a:pPr>
            <a:r>
              <a:t>• Asynchronous PortStatus events</a:t>
            </a:r>
          </a:p>
        </p:txBody>
      </p:sp>
      <p:sp>
        <p:nvSpPr>
          <p:cNvPr id="10" name="Rounded Rectangle 9"/>
          <p:cNvSpPr/>
          <p:nvPr/>
        </p:nvSpPr>
        <p:spPr>
          <a:xfrm>
            <a:off x="5084064" y="1920240"/>
            <a:ext cx="2057400" cy="3657600"/>
          </a:xfrm>
          <a:prstGeom prst="roundRect">
            <a:avLst/>
          </a:prstGeom>
          <a:solidFill>
            <a:srgbClr val="1E293B"/>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93792" y="2057400"/>
            <a:ext cx="1828800" cy="3383280"/>
          </a:xfrm>
          <a:prstGeom prst="rect">
            <a:avLst/>
          </a:prstGeom>
          <a:noFill/>
        </p:spPr>
        <p:txBody>
          <a:bodyPr wrap="square">
            <a:spAutoFit/>
          </a:bodyPr>
          <a:lstStyle/>
          <a:p>
            <a:pPr>
              <a:spcAft>
                <a:spcPts val="1000"/>
              </a:spcAft>
              <a:defRPr sz="1300" b="1">
                <a:solidFill>
                  <a:srgbClr val="A855F7"/>
                </a:solidFill>
                <a:latin typeface="Segoe UI"/>
              </a:defRPr>
            </a:pPr>
            <a:r>
              <a:t>3. FEATURE EXTRACTION</a:t>
            </a:r>
          </a:p>
          <a:p>
            <a:pPr>
              <a:spcAft>
                <a:spcPts val="300"/>
              </a:spcAft>
              <a:defRPr sz="1050">
                <a:solidFill>
                  <a:srgbClr val="F8FAFC"/>
                </a:solidFill>
                <a:latin typeface="Segoe UI"/>
              </a:defRPr>
            </a:pPr>
            <a:r>
              <a:t>Rolling-Window Aggregation</a:t>
            </a:r>
          </a:p>
          <a:p>
            <a:pPr>
              <a:spcAft>
                <a:spcPts val="300"/>
              </a:spcAft>
              <a:defRPr sz="1050">
                <a:solidFill>
                  <a:srgbClr val="F8FAFC"/>
                </a:solidFill>
                <a:latin typeface="Segoe UI"/>
              </a:defRPr>
            </a:pPr>
            <a:r>
              <a:t>• Shannon Entropy of IP Sources</a:t>
            </a:r>
          </a:p>
          <a:p>
            <a:pPr>
              <a:spcAft>
                <a:spcPts val="300"/>
              </a:spcAft>
              <a:defRPr sz="1050">
                <a:solidFill>
                  <a:srgbClr val="F8FAFC"/>
                </a:solidFill>
                <a:latin typeface="Segoe UI"/>
              </a:defRPr>
            </a:pPr>
            <a:r>
              <a:t>• Packet / Byte Rate (pps / Bps)</a:t>
            </a:r>
          </a:p>
          <a:p>
            <a:pPr>
              <a:spcAft>
                <a:spcPts val="300"/>
              </a:spcAft>
              <a:defRPr sz="1050">
                <a:solidFill>
                  <a:srgbClr val="F8FAFC"/>
                </a:solidFill>
                <a:latin typeface="Segoe UI"/>
              </a:defRPr>
            </a:pPr>
            <a:r>
              <a:t>• Mean &amp; Std of Packet Sizes</a:t>
            </a:r>
          </a:p>
          <a:p>
            <a:pPr>
              <a:spcAft>
                <a:spcPts val="300"/>
              </a:spcAft>
              <a:defRPr sz="1050">
                <a:solidFill>
                  <a:srgbClr val="F8FAFC"/>
                </a:solidFill>
                <a:latin typeface="Segoe UI"/>
              </a:defRPr>
            </a:pPr>
            <a:r>
              <a:t>• RX / TX Drop Counters</a:t>
            </a:r>
          </a:p>
        </p:txBody>
      </p:sp>
      <p:sp>
        <p:nvSpPr>
          <p:cNvPr id="12" name="Rounded Rectangle 11"/>
          <p:cNvSpPr/>
          <p:nvPr/>
        </p:nvSpPr>
        <p:spPr>
          <a:xfrm>
            <a:off x="7260336" y="1920240"/>
            <a:ext cx="2057400" cy="365760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0064" y="2057400"/>
            <a:ext cx="1828800" cy="3383280"/>
          </a:xfrm>
          <a:prstGeom prst="rect">
            <a:avLst/>
          </a:prstGeom>
          <a:noFill/>
        </p:spPr>
        <p:txBody>
          <a:bodyPr wrap="square">
            <a:spAutoFit/>
          </a:bodyPr>
          <a:lstStyle/>
          <a:p>
            <a:pPr>
              <a:spcAft>
                <a:spcPts val="1000"/>
              </a:spcAft>
              <a:defRPr sz="1300" b="1">
                <a:solidFill>
                  <a:srgbClr val="F59E0B"/>
                </a:solidFill>
                <a:latin typeface="Segoe UI"/>
              </a:defRPr>
            </a:pPr>
            <a:r>
              <a:t>4. AI CLASSIFIER</a:t>
            </a:r>
          </a:p>
          <a:p>
            <a:pPr>
              <a:spcAft>
                <a:spcPts val="300"/>
              </a:spcAft>
              <a:defRPr sz="1050">
                <a:solidFill>
                  <a:srgbClr val="F8FAFC"/>
                </a:solidFill>
                <a:latin typeface="Segoe UI"/>
              </a:defRPr>
            </a:pPr>
            <a:r>
              <a:t>Multi-Class ML Engine</a:t>
            </a:r>
          </a:p>
          <a:p>
            <a:pPr>
              <a:spcAft>
                <a:spcPts val="300"/>
              </a:spcAft>
              <a:defRPr sz="1050">
                <a:solidFill>
                  <a:srgbClr val="F8FAFC"/>
                </a:solidFill>
                <a:latin typeface="Segoe UI"/>
              </a:defRPr>
            </a:pPr>
            <a:r>
              <a:t>• Random Forest &amp; Gradient Boost</a:t>
            </a:r>
          </a:p>
          <a:p>
            <a:pPr>
              <a:spcAft>
                <a:spcPts val="300"/>
              </a:spcAft>
              <a:defRPr sz="1050">
                <a:solidFill>
                  <a:srgbClr val="F8FAFC"/>
                </a:solidFill>
                <a:latin typeface="Segoe UI"/>
              </a:defRPr>
            </a:pPr>
            <a:r>
              <a:t>• Rolling feature vector evaluation</a:t>
            </a:r>
          </a:p>
          <a:p>
            <a:pPr>
              <a:spcAft>
                <a:spcPts val="300"/>
              </a:spcAft>
              <a:defRPr sz="1050">
                <a:solidFill>
                  <a:srgbClr val="F8FAFC"/>
                </a:solidFill>
                <a:latin typeface="Segoe UI"/>
              </a:defRPr>
            </a:pPr>
            <a:r>
              <a:t>• 5-Class Output Prediction</a:t>
            </a:r>
          </a:p>
          <a:p>
            <a:pPr>
              <a:spcAft>
                <a:spcPts val="300"/>
              </a:spcAft>
              <a:defRPr sz="1050">
                <a:solidFill>
                  <a:srgbClr val="F8FAFC"/>
                </a:solidFill>
                <a:latin typeface="Segoe UI"/>
              </a:defRPr>
            </a:pPr>
            <a:r>
              <a:t>• Low inference latency (&lt;15ms)</a:t>
            </a:r>
          </a:p>
        </p:txBody>
      </p:sp>
      <p:sp>
        <p:nvSpPr>
          <p:cNvPr id="14" name="Rounded Rectangle 13"/>
          <p:cNvSpPr/>
          <p:nvPr/>
        </p:nvSpPr>
        <p:spPr>
          <a:xfrm>
            <a:off x="9436608" y="1920240"/>
            <a:ext cx="2057400" cy="365760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46336" y="2057400"/>
            <a:ext cx="1828800" cy="3383280"/>
          </a:xfrm>
          <a:prstGeom prst="rect">
            <a:avLst/>
          </a:prstGeom>
          <a:noFill/>
        </p:spPr>
        <p:txBody>
          <a:bodyPr wrap="square">
            <a:spAutoFit/>
          </a:bodyPr>
          <a:lstStyle/>
          <a:p>
            <a:pPr>
              <a:spcAft>
                <a:spcPts val="1000"/>
              </a:spcAft>
              <a:defRPr sz="1300" b="1">
                <a:solidFill>
                  <a:srgbClr val="10B981"/>
                </a:solidFill>
                <a:latin typeface="Segoe UI"/>
              </a:defRPr>
            </a:pPr>
            <a:r>
              <a:t>5. ACTION ENGINE</a:t>
            </a:r>
          </a:p>
          <a:p>
            <a:pPr>
              <a:spcAft>
                <a:spcPts val="300"/>
              </a:spcAft>
              <a:defRPr sz="1050">
                <a:solidFill>
                  <a:srgbClr val="F8FAFC"/>
                </a:solidFill>
                <a:latin typeface="Segoe UI"/>
              </a:defRPr>
            </a:pPr>
            <a:r>
              <a:t>Differentiated Auto-Remediation</a:t>
            </a:r>
          </a:p>
          <a:p>
            <a:pPr>
              <a:spcAft>
                <a:spcPts val="300"/>
              </a:spcAft>
              <a:defRPr sz="1050">
                <a:solidFill>
                  <a:srgbClr val="F8FAFC"/>
                </a:solidFill>
                <a:latin typeface="Segoe UI"/>
              </a:defRPr>
            </a:pPr>
            <a:r>
              <a:t>• Flash: Group Table Multi-Path LB</a:t>
            </a:r>
          </a:p>
          <a:p>
            <a:pPr>
              <a:spcAft>
                <a:spcPts val="300"/>
              </a:spcAft>
              <a:defRPr sz="1050">
                <a:solidFill>
                  <a:srgbClr val="F8FAFC"/>
                </a:solidFill>
                <a:latin typeface="Segoe UI"/>
              </a:defRPr>
            </a:pPr>
            <a:r>
              <a:t>• DDoS: Ingress Rate-Limit / Block</a:t>
            </a:r>
          </a:p>
          <a:p>
            <a:pPr>
              <a:spcAft>
                <a:spcPts val="300"/>
              </a:spcAft>
              <a:defRPr sz="1050">
                <a:solidFill>
                  <a:srgbClr val="F8FAFC"/>
                </a:solidFill>
                <a:latin typeface="Segoe UI"/>
              </a:defRPr>
            </a:pPr>
            <a:r>
              <a:t>• Congestion: Predictive Reroute</a:t>
            </a:r>
          </a:p>
          <a:p>
            <a:pPr>
              <a:spcAft>
                <a:spcPts val="300"/>
              </a:spcAft>
              <a:defRPr sz="1050">
                <a:solidFill>
                  <a:srgbClr val="F8FAFC"/>
                </a:solidFill>
                <a:latin typeface="Segoe UI"/>
              </a:defRPr>
            </a:pPr>
            <a:r>
              <a:t>• Failure: Sub-second Failover</a:t>
            </a:r>
          </a:p>
        </p:txBody>
      </p:sp>
      <p:sp>
        <p:nvSpPr>
          <p:cNvPr id="16" name="Rounded Rectangle 15"/>
          <p:cNvSpPr/>
          <p:nvPr/>
        </p:nvSpPr>
        <p:spPr>
          <a:xfrm>
            <a:off x="731520" y="5760720"/>
            <a:ext cx="10698480" cy="64008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852160"/>
            <a:ext cx="10332720" cy="457200"/>
          </a:xfrm>
          <a:prstGeom prst="rect">
            <a:avLst/>
          </a:prstGeom>
          <a:noFill/>
        </p:spPr>
        <p:txBody>
          <a:bodyPr wrap="none">
            <a:spAutoFit/>
          </a:bodyPr>
          <a:lstStyle/>
          <a:p>
            <a:pPr>
              <a:defRPr sz="1150" b="1">
                <a:solidFill>
                  <a:srgbClr val="38BDF8"/>
                </a:solidFill>
                <a:latin typeface="Segoe UI"/>
              </a:defRPr>
            </a:pPr>
            <a:r>
              <a:t>AUTONOMIC CLOSED LOOP: Remediation actions dynamically reprogram OpenFlow forwarding tables at line rate with zero manual intervention.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square" lIns="0" tIns="0" rIns="0" bIns="0">
            <a:spAutoFit/>
          </a:bodyPr>
          <a:lstStyle/>
          <a:p>
            <a:pPr>
              <a:defRPr sz="1050" b="1">
                <a:solidFill>
                  <a:srgbClr val="38BDF8"/>
                </a:solidFill>
                <a:latin typeface="Segoe UI"/>
              </a:defRPr>
            </a:pPr>
            <a:r>
              <a:t>NETWORK TOPOLOGY</a:t>
            </a:r>
          </a:p>
        </p:txBody>
      </p:sp>
      <p:sp>
        <p:nvSpPr>
          <p:cNvPr id="4" name="TextBox 3"/>
          <p:cNvSpPr txBox="1"/>
          <p:nvPr/>
        </p:nvSpPr>
        <p:spPr>
          <a:xfrm>
            <a:off x="731520" y="777240"/>
            <a:ext cx="10698480" cy="594360"/>
          </a:xfrm>
          <a:prstGeom prst="rect">
            <a:avLst/>
          </a:prstGeom>
          <a:noFill/>
        </p:spPr>
        <p:txBody>
          <a:bodyPr wrap="square" lIns="0" tIns="0" rIns="0" bIns="0">
            <a:spAutoFit/>
          </a:bodyPr>
          <a:lstStyle/>
          <a:p>
            <a:pPr>
              <a:defRPr sz="2400" b="1">
                <a:solidFill>
                  <a:srgbClr val="F8FAFC"/>
                </a:solidFill>
                <a:latin typeface="Segoe UI"/>
              </a:defRPr>
            </a:pPr>
            <a:r>
              <a:t>Multi-Path Mininet Topology (Dual Redundant Core)</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300">
                <a:solidFill>
                  <a:srgbClr val="94A3B8"/>
                </a:solidFill>
                <a:latin typeface="Segoe UI"/>
              </a:defRPr>
            </a:pPr>
            <a:r>
              <a:t>Custom OpenFlow 1.3 topology implemented in Mininet with controllable bandwidth and latency parameters.</a:t>
            </a:r>
          </a:p>
        </p:txBody>
      </p:sp>
      <p:sp>
        <p:nvSpPr>
          <p:cNvPr id="6" name="Rounded Rectangle 5"/>
          <p:cNvSpPr/>
          <p:nvPr/>
        </p:nvSpPr>
        <p:spPr>
          <a:xfrm>
            <a:off x="731520" y="1920240"/>
            <a:ext cx="5669280" cy="429768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5303520" cy="4114800"/>
          </a:xfrm>
          <a:prstGeom prst="rect">
            <a:avLst/>
          </a:prstGeom>
          <a:noFill/>
        </p:spPr>
        <p:txBody>
          <a:bodyPr wrap="square">
            <a:spAutoFit/>
          </a:bodyPr>
          <a:lstStyle/>
          <a:p>
            <a:pPr>
              <a:spcAft>
                <a:spcPts val="1000"/>
              </a:spcAft>
              <a:defRPr sz="1600" b="1">
                <a:solidFill>
                  <a:srgbClr val="38BDF8"/>
                </a:solidFill>
                <a:latin typeface="Segoe UI"/>
              </a:defRPr>
            </a:pPr>
            <a:r>
              <a:t>Topology Graph Representation</a:t>
            </a:r>
          </a:p>
          <a:p>
            <a:br/>
            <a:pPr>
              <a:defRPr sz="1000">
                <a:solidFill>
                  <a:srgbClr val="F8FAFC"/>
                </a:solidFill>
                <a:latin typeface="Consolas"/>
              </a:defRPr>
            </a:pPr>
            <a:r>
              <a:t>          [h1]  [h2]  [h3]  [h4]  [h5]  (Clients: 10.0.0.1 - 10.0.0.5)</a:t>
            </a:r>
            <a:br/>
            <a:r>
              <a:t>            \     \    |    /     /</a:t>
            </a:r>
            <a:br/>
            <a:r>
              <a:t>              [ Switch s1 ] (Ingress Switch - DPID 1)</a:t>
            </a:r>
            <a:br/>
            <a:r>
              <a:t>                 /             \</a:t>
            </a:r>
            <a:br/>
            <a:r>
              <a:t>           Path A               Path B</a:t>
            </a:r>
            <a:br/>
            <a:r>
              <a:t>        [ Switch s2 ]        [ Switch s3 ]   (Core Switches)</a:t>
            </a:r>
            <a:br/>
            <a:r>
              <a:t>        (10 Mbps, 5ms)       (10 Mbps, 5ms)</a:t>
            </a:r>
            <a:br/>
            <a:r>
              <a:t>                 \             /</a:t>
            </a:r>
            <a:br/>
            <a:r>
              <a:t>              [ Switch s4 ] (Egress Switch - DPID 4)</a:t>
            </a:r>
            <a:br/>
            <a:r>
              <a:t>                    |</a:t>
            </a:r>
            <a:br/>
            <a:r>
              <a:t>                 [ h6 ] (Target Web / App Server: 10.0.0.6)</a:t>
            </a:r>
            <a:br/>
          </a:p>
        </p:txBody>
      </p:sp>
      <p:sp>
        <p:nvSpPr>
          <p:cNvPr id="8" name="Rounded Rectangle 7"/>
          <p:cNvSpPr/>
          <p:nvPr/>
        </p:nvSpPr>
        <p:spPr>
          <a:xfrm>
            <a:off x="6675120" y="1920240"/>
            <a:ext cx="4754880" cy="42976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2103120"/>
            <a:ext cx="4206240" cy="3931920"/>
          </a:xfrm>
          <a:prstGeom prst="rect">
            <a:avLst/>
          </a:prstGeom>
          <a:noFill/>
        </p:spPr>
        <p:txBody>
          <a:bodyPr wrap="square">
            <a:spAutoFit/>
          </a:bodyPr>
          <a:lstStyle/>
          <a:p>
            <a:pPr>
              <a:spcAft>
                <a:spcPts val="1400"/>
              </a:spcAft>
              <a:defRPr sz="1600" b="1">
                <a:solidFill>
                  <a:srgbClr val="F8FAFC"/>
                </a:solidFill>
                <a:latin typeface="Segoe UI"/>
              </a:defRPr>
            </a:pPr>
            <a:r>
              <a:t>Key Topology Characteristics</a:t>
            </a:r>
          </a:p>
          <a:p>
            <a:pPr>
              <a:spcAft>
                <a:spcPts val="800"/>
              </a:spcAft>
              <a:defRPr sz="1150">
                <a:solidFill>
                  <a:srgbClr val="F8FAFC"/>
                </a:solidFill>
                <a:latin typeface="Segoe UI"/>
              </a:defRPr>
            </a:pPr>
            <a:r>
              <a:t>• Access Links: 5 Client hosts connected to s1 via 100 Mbps, 1ms delay links (allowing realistic high-volume traffic injection).</a:t>
            </a:r>
          </a:p>
          <a:p>
            <a:pPr>
              <a:spcAft>
                <a:spcPts val="800"/>
              </a:spcAft>
              <a:defRPr sz="1150">
                <a:solidFill>
                  <a:srgbClr val="F8FAFC"/>
                </a:solidFill>
                <a:latin typeface="Segoe UI"/>
              </a:defRPr>
            </a:pPr>
            <a:r>
              <a:t>• Core Bottleneck Paths: Path A (s1-s2-s4) &amp; Path B (s1-s3-s4) throttled to 10 Mbps with 5ms delay to model realistic WAN/Core bottlenecks.</a:t>
            </a:r>
          </a:p>
          <a:p>
            <a:pPr>
              <a:spcAft>
                <a:spcPts val="800"/>
              </a:spcAft>
              <a:defRPr sz="1150">
                <a:solidFill>
                  <a:srgbClr val="F8FAFC"/>
                </a:solidFill>
                <a:latin typeface="Segoe UI"/>
              </a:defRPr>
            </a:pPr>
            <a:r>
              <a:t>• Target Server (h6): Acts as the central destination endpoint running iperf3 daemons and web service responders.</a:t>
            </a:r>
          </a:p>
          <a:p>
            <a:pPr>
              <a:spcAft>
                <a:spcPts val="800"/>
              </a:spcAft>
              <a:defRPr sz="1150">
                <a:solidFill>
                  <a:srgbClr val="F8FAFC"/>
                </a:solidFill>
                <a:latin typeface="Segoe UI"/>
              </a:defRPr>
            </a:pPr>
            <a:r>
              <a:t>• Path Redundancy: Provides dual independent paths for evaluating dynamic load balancing, proactive rerouting, and sub-second link failover.</a:t>
            </a:r>
          </a:p>
          <a:p>
            <a:pPr>
              <a:spcAft>
                <a:spcPts val="800"/>
              </a:spcAft>
              <a:defRPr sz="1150">
                <a:solidFill>
                  <a:srgbClr val="F8FAFC"/>
                </a:solidFill>
                <a:latin typeface="Segoe UI"/>
              </a:defRPr>
            </a:pPr>
            <a:r>
              <a:t>• OpenFlow 1.3 Standard: Operates with full support for group tables (ALL, SELECT, FAST_FAILOVER) and per-flow metering.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square" lIns="0" tIns="0" rIns="0" bIns="0">
            <a:spAutoFit/>
          </a:bodyPr>
          <a:lstStyle/>
          <a:p>
            <a:pPr>
              <a:defRPr sz="1050" b="1">
                <a:solidFill>
                  <a:srgbClr val="38BDF8"/>
                </a:solidFill>
                <a:latin typeface="Segoe UI"/>
              </a:defRPr>
            </a:pPr>
            <a:r>
              <a:t>ANOMALY TAXONOMY</a:t>
            </a:r>
          </a:p>
        </p:txBody>
      </p:sp>
      <p:sp>
        <p:nvSpPr>
          <p:cNvPr id="4" name="TextBox 3"/>
          <p:cNvSpPr txBox="1"/>
          <p:nvPr/>
        </p:nvSpPr>
        <p:spPr>
          <a:xfrm>
            <a:off x="731520" y="777240"/>
            <a:ext cx="10698480" cy="594360"/>
          </a:xfrm>
          <a:prstGeom prst="rect">
            <a:avLst/>
          </a:prstGeom>
          <a:noFill/>
        </p:spPr>
        <p:txBody>
          <a:bodyPr wrap="square" lIns="0" tIns="0" rIns="0" bIns="0">
            <a:spAutoFit/>
          </a:bodyPr>
          <a:lstStyle/>
          <a:p>
            <a:pPr>
              <a:defRPr sz="2400" b="1">
                <a:solidFill>
                  <a:srgbClr val="F8FAFC"/>
                </a:solidFill>
                <a:latin typeface="Segoe UI"/>
              </a:defRPr>
            </a:pPr>
            <a:r>
              <a:t>Unified Multi-Class Taxonomy &amp; Characteristics</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300">
                <a:solidFill>
                  <a:srgbClr val="94A3B8"/>
                </a:solidFill>
                <a:latin typeface="Segoe UI"/>
              </a:defRPr>
            </a:pPr>
            <a:r>
              <a:t>Four critical network disruption scenarios plus normal baseline conditions.</a:t>
            </a:r>
          </a:p>
        </p:txBody>
      </p:sp>
      <p:graphicFrame>
        <p:nvGraphicFramePr>
          <p:cNvPr id="6" name="Table 5"/>
          <p:cNvGraphicFramePr>
            <a:graphicFrameLocks noGrp="1"/>
          </p:cNvGraphicFramePr>
          <p:nvPr/>
        </p:nvGraphicFramePr>
        <p:xfrm>
          <a:off x="731520" y="1920240"/>
          <a:ext cx="10698480" cy="4297680"/>
        </p:xfrm>
        <a:graphic>
          <a:graphicData uri="http://schemas.openxmlformats.org/drawingml/2006/table">
            <a:tbl>
              <a:tblPr firstRow="1" bandRow="1">
                <a:tableStyleId>{5C22544A-7EE6-4342-B048-85BDC9FD1C3A}</a:tableStyleId>
              </a:tblPr>
              <a:tblGrid>
                <a:gridCol w="2103120"/>
                <a:gridCol w="2926080"/>
                <a:gridCol w="1645920"/>
                <a:gridCol w="1463040"/>
                <a:gridCol w="2560320"/>
              </a:tblGrid>
              <a:tr h="716280">
                <a:tc>
                  <a:txBody>
                    <a:bodyPr/>
                    <a:lstStyle/>
                    <a:p>
                      <a:pPr>
                        <a:defRPr sz="1100" b="1">
                          <a:solidFill>
                            <a:srgbClr val="38BDF8"/>
                          </a:solidFill>
                          <a:latin typeface="Segoe UI"/>
                        </a:defRPr>
                      </a:pPr>
                      <a:r>
                        <a:t>Anomaly Class</a:t>
                      </a:r>
                    </a:p>
                  </a:txBody>
                  <a:tcPr>
                    <a:solidFill>
                      <a:srgbClr val="334155"/>
                    </a:solidFill>
                  </a:tcPr>
                </a:tc>
                <a:tc>
                  <a:txBody>
                    <a:bodyPr/>
                    <a:lstStyle/>
                    <a:p>
                      <a:pPr>
                        <a:defRPr sz="1100" b="1">
                          <a:solidFill>
                            <a:srgbClr val="38BDF8"/>
                          </a:solidFill>
                          <a:latin typeface="Segoe UI"/>
                        </a:defRPr>
                      </a:pPr>
                      <a:r>
                        <a:t>Network Behavioral Pattern</a:t>
                      </a:r>
                    </a:p>
                  </a:txBody>
                  <a:tcPr>
                    <a:solidFill>
                      <a:srgbClr val="334155"/>
                    </a:solidFill>
                  </a:tcPr>
                </a:tc>
                <a:tc>
                  <a:txBody>
                    <a:bodyPr/>
                    <a:lstStyle/>
                    <a:p>
                      <a:pPr>
                        <a:defRPr sz="1100" b="1">
                          <a:solidFill>
                            <a:srgbClr val="38BDF8"/>
                          </a:solidFill>
                          <a:latin typeface="Segoe UI"/>
                        </a:defRPr>
                      </a:pPr>
                      <a:r>
                        <a:t>IP Entropy</a:t>
                      </a:r>
                    </a:p>
                  </a:txBody>
                  <a:tcPr>
                    <a:solidFill>
                      <a:srgbClr val="334155"/>
                    </a:solidFill>
                  </a:tcPr>
                </a:tc>
                <a:tc>
                  <a:txBody>
                    <a:bodyPr/>
                    <a:lstStyle/>
                    <a:p>
                      <a:pPr>
                        <a:defRPr sz="1100" b="1">
                          <a:solidFill>
                            <a:srgbClr val="38BDF8"/>
                          </a:solidFill>
                          <a:latin typeface="Segoe UI"/>
                        </a:defRPr>
                      </a:pPr>
                      <a:r>
                        <a:t>Packet Drops</a:t>
                      </a:r>
                    </a:p>
                  </a:txBody>
                  <a:tcPr>
                    <a:solidFill>
                      <a:srgbClr val="334155"/>
                    </a:solidFill>
                  </a:tcPr>
                </a:tc>
                <a:tc>
                  <a:txBody>
                    <a:bodyPr/>
                    <a:lstStyle/>
                    <a:p>
                      <a:pPr>
                        <a:defRPr sz="1100" b="1">
                          <a:solidFill>
                            <a:srgbClr val="38BDF8"/>
                          </a:solidFill>
                          <a:latin typeface="Segoe UI"/>
                        </a:defRPr>
                      </a:pPr>
                      <a:r>
                        <a:t>Required Remediation Action</a:t>
                      </a:r>
                    </a:p>
                  </a:txBody>
                  <a:tcPr>
                    <a:solidFill>
                      <a:srgbClr val="334155"/>
                    </a:solidFill>
                  </a:tcPr>
                </a:tc>
              </a:tr>
              <a:tr h="716280">
                <a:tc>
                  <a:txBody>
                    <a:bodyPr/>
                    <a:lstStyle/>
                    <a:p>
                      <a:pPr>
                        <a:defRPr sz="1000" b="1">
                          <a:solidFill>
                            <a:srgbClr val="3B82F6"/>
                          </a:solidFill>
                          <a:latin typeface="Segoe UI"/>
                        </a:defRPr>
                      </a:pPr>
                      <a:r>
                        <a:t>1. Normal Traffic</a:t>
                      </a:r>
                    </a:p>
                  </a:txBody>
                  <a:tcPr>
                    <a:solidFill>
                      <a:srgbClr val="1E293B"/>
                    </a:solidFill>
                  </a:tcPr>
                </a:tc>
                <a:tc>
                  <a:txBody>
                    <a:bodyPr/>
                    <a:lstStyle/>
                    <a:p>
                      <a:pPr>
                        <a:defRPr sz="1000">
                          <a:solidFill>
                            <a:srgbClr val="F8FAFC"/>
                          </a:solidFill>
                          <a:latin typeface="Segoe UI"/>
                        </a:defRPr>
                      </a:pPr>
                      <a:r>
                        <a:t>Baseline browsing, file transfer, periodic client requests.</a:t>
                      </a:r>
                    </a:p>
                  </a:txBody>
                  <a:tcPr>
                    <a:solidFill>
                      <a:srgbClr val="1E293B"/>
                    </a:solidFill>
                  </a:tcPr>
                </a:tc>
                <a:tc>
                  <a:txBody>
                    <a:bodyPr/>
                    <a:lstStyle/>
                    <a:p>
                      <a:pPr>
                        <a:defRPr sz="1000">
                          <a:solidFill>
                            <a:srgbClr val="F8FAFC"/>
                          </a:solidFill>
                          <a:latin typeface="Segoe UI"/>
                        </a:defRPr>
                      </a:pPr>
                      <a:r>
                        <a:t>High / Stable</a:t>
                      </a:r>
                    </a:p>
                  </a:txBody>
                  <a:tcPr>
                    <a:solidFill>
                      <a:srgbClr val="1E293B"/>
                    </a:solidFill>
                  </a:tcPr>
                </a:tc>
                <a:tc>
                  <a:txBody>
                    <a:bodyPr/>
                    <a:lstStyle/>
                    <a:p>
                      <a:pPr>
                        <a:defRPr sz="1000">
                          <a:solidFill>
                            <a:srgbClr val="F8FAFC"/>
                          </a:solidFill>
                          <a:latin typeface="Segoe UI"/>
                        </a:defRPr>
                      </a:pPr>
                      <a:r>
                        <a:t>Low / Stable</a:t>
                      </a:r>
                    </a:p>
                  </a:txBody>
                  <a:tcPr>
                    <a:solidFill>
                      <a:srgbClr val="1E293B"/>
                    </a:solidFill>
                  </a:tcPr>
                </a:tc>
                <a:tc>
                  <a:txBody>
                    <a:bodyPr/>
                    <a:lstStyle/>
                    <a:p>
                      <a:pPr>
                        <a:defRPr sz="1000">
                          <a:solidFill>
                            <a:srgbClr val="F8FAFC"/>
                          </a:solidFill>
                          <a:latin typeface="Segoe UI"/>
                        </a:defRPr>
                      </a:pPr>
                      <a:r>
                        <a:t>Continuous passive monitoring</a:t>
                      </a:r>
                    </a:p>
                  </a:txBody>
                  <a:tcPr>
                    <a:solidFill>
                      <a:srgbClr val="1E293B"/>
                    </a:solidFill>
                  </a:tcPr>
                </a:tc>
              </a:tr>
              <a:tr h="716280">
                <a:tc>
                  <a:txBody>
                    <a:bodyPr/>
                    <a:lstStyle/>
                    <a:p>
                      <a:pPr>
                        <a:defRPr sz="1000" b="1">
                          <a:solidFill>
                            <a:srgbClr val="10B981"/>
                          </a:solidFill>
                          <a:latin typeface="Segoe UI"/>
                        </a:defRPr>
                      </a:pPr>
                      <a:r>
                        <a:t>2. Flash-Crowd Surge</a:t>
                      </a:r>
                    </a:p>
                  </a:txBody>
                  <a:tcPr>
                    <a:solidFill>
                      <a:srgbClr val="18212F"/>
                    </a:solidFill>
                  </a:tcPr>
                </a:tc>
                <a:tc>
                  <a:txBody>
                    <a:bodyPr/>
                    <a:lstStyle/>
                    <a:p>
                      <a:pPr>
                        <a:defRPr sz="1000">
                          <a:solidFill>
                            <a:srgbClr val="F8FAFC"/>
                          </a:solidFill>
                          <a:latin typeface="Segoe UI"/>
                        </a:defRPr>
                      </a:pPr>
                      <a:r>
                        <a:t>Legitimate concurrent spike from diverse sources (e.g. flash sales).</a:t>
                      </a:r>
                    </a:p>
                  </a:txBody>
                  <a:tcPr>
                    <a:solidFill>
                      <a:srgbClr val="18212F"/>
                    </a:solidFill>
                  </a:tcPr>
                </a:tc>
                <a:tc>
                  <a:txBody>
                    <a:bodyPr/>
                    <a:lstStyle/>
                    <a:p>
                      <a:pPr>
                        <a:defRPr sz="1000">
                          <a:solidFill>
                            <a:srgbClr val="F8FAFC"/>
                          </a:solidFill>
                          <a:latin typeface="Segoe UI"/>
                        </a:defRPr>
                      </a:pPr>
                      <a:r>
                        <a:t>Very High (&gt;2.0)</a:t>
                      </a:r>
                    </a:p>
                  </a:txBody>
                  <a:tcPr>
                    <a:solidFill>
                      <a:srgbClr val="18212F"/>
                    </a:solidFill>
                  </a:tcPr>
                </a:tc>
                <a:tc>
                  <a:txBody>
                    <a:bodyPr/>
                    <a:lstStyle/>
                    <a:p>
                      <a:pPr>
                        <a:defRPr sz="1000">
                          <a:solidFill>
                            <a:srgbClr val="F8FAFC"/>
                          </a:solidFill>
                          <a:latin typeface="Segoe UI"/>
                        </a:defRPr>
                      </a:pPr>
                      <a:r>
                        <a:t>Low / Normal</a:t>
                      </a:r>
                    </a:p>
                  </a:txBody>
                  <a:tcPr>
                    <a:solidFill>
                      <a:srgbClr val="18212F"/>
                    </a:solidFill>
                  </a:tcPr>
                </a:tc>
                <a:tc>
                  <a:txBody>
                    <a:bodyPr/>
                    <a:lstStyle/>
                    <a:p>
                      <a:pPr>
                        <a:defRPr sz="1000">
                          <a:solidFill>
                            <a:srgbClr val="F8FAFC"/>
                          </a:solidFill>
                          <a:latin typeface="Segoe UI"/>
                        </a:defRPr>
                      </a:pPr>
                      <a:r>
                        <a:t>Multi-Path Load Balancing across Core Paths A &amp; B</a:t>
                      </a:r>
                    </a:p>
                  </a:txBody>
                  <a:tcPr>
                    <a:solidFill>
                      <a:srgbClr val="18212F"/>
                    </a:solidFill>
                  </a:tcPr>
                </a:tc>
              </a:tr>
              <a:tr h="716280">
                <a:tc>
                  <a:txBody>
                    <a:bodyPr/>
                    <a:lstStyle/>
                    <a:p>
                      <a:pPr>
                        <a:defRPr sz="1000" b="1">
                          <a:solidFill>
                            <a:srgbClr val="EF4444"/>
                          </a:solidFill>
                          <a:latin typeface="Segoe UI"/>
                        </a:defRPr>
                      </a:pPr>
                      <a:r>
                        <a:t>3. DDoS Flood Attack</a:t>
                      </a:r>
                    </a:p>
                  </a:txBody>
                  <a:tcPr>
                    <a:solidFill>
                      <a:srgbClr val="1E293B"/>
                    </a:solidFill>
                  </a:tcPr>
                </a:tc>
                <a:tc>
                  <a:txBody>
                    <a:bodyPr/>
                    <a:lstStyle/>
                    <a:p>
                      <a:pPr>
                        <a:defRPr sz="1000">
                          <a:solidFill>
                            <a:srgbClr val="F8FAFC"/>
                          </a:solidFill>
                          <a:latin typeface="Segoe UI"/>
                        </a:defRPr>
                      </a:pPr>
                      <a:r>
                        <a:t>Volumetric attack (Scapy SYN/UDP flood) from spoofed/few origins.</a:t>
                      </a:r>
                    </a:p>
                  </a:txBody>
                  <a:tcPr>
                    <a:solidFill>
                      <a:srgbClr val="1E293B"/>
                    </a:solidFill>
                  </a:tcPr>
                </a:tc>
                <a:tc>
                  <a:txBody>
                    <a:bodyPr/>
                    <a:lstStyle/>
                    <a:p>
                      <a:pPr>
                        <a:defRPr sz="1000">
                          <a:solidFill>
                            <a:srgbClr val="F8FAFC"/>
                          </a:solidFill>
                          <a:latin typeface="Segoe UI"/>
                        </a:defRPr>
                      </a:pPr>
                      <a:r>
                        <a:t>Extremely Low (&lt;0.5)</a:t>
                      </a:r>
                    </a:p>
                  </a:txBody>
                  <a:tcPr>
                    <a:solidFill>
                      <a:srgbClr val="1E293B"/>
                    </a:solidFill>
                  </a:tcPr>
                </a:tc>
                <a:tc>
                  <a:txBody>
                    <a:bodyPr/>
                    <a:lstStyle/>
                    <a:p>
                      <a:pPr>
                        <a:defRPr sz="1000">
                          <a:solidFill>
                            <a:srgbClr val="F8FAFC"/>
                          </a:solidFill>
                          <a:latin typeface="Segoe UI"/>
                        </a:defRPr>
                      </a:pPr>
                      <a:r>
                        <a:t>High / Critical</a:t>
                      </a:r>
                    </a:p>
                  </a:txBody>
                  <a:tcPr>
                    <a:solidFill>
                      <a:srgbClr val="1E293B"/>
                    </a:solidFill>
                  </a:tcPr>
                </a:tc>
                <a:tc>
                  <a:txBody>
                    <a:bodyPr/>
                    <a:lstStyle/>
                    <a:p>
                      <a:pPr>
                        <a:defRPr sz="1000">
                          <a:solidFill>
                            <a:srgbClr val="F8FAFC"/>
                          </a:solidFill>
                          <a:latin typeface="Segoe UI"/>
                        </a:defRPr>
                      </a:pPr>
                      <a:r>
                        <a:t>Ingress Filtering / Rate-Limiting + Clean Traffic Reroute</a:t>
                      </a:r>
                    </a:p>
                  </a:txBody>
                  <a:tcPr>
                    <a:solidFill>
                      <a:srgbClr val="1E293B"/>
                    </a:solidFill>
                  </a:tcPr>
                </a:tc>
              </a:tr>
              <a:tr h="716280">
                <a:tc>
                  <a:txBody>
                    <a:bodyPr/>
                    <a:lstStyle/>
                    <a:p>
                      <a:pPr>
                        <a:defRPr sz="1000" b="1">
                          <a:solidFill>
                            <a:srgbClr val="F59E0B"/>
                          </a:solidFill>
                          <a:latin typeface="Segoe UI"/>
                        </a:defRPr>
                      </a:pPr>
                      <a:r>
                        <a:t>4. Slow Congestion</a:t>
                      </a:r>
                    </a:p>
                  </a:txBody>
                  <a:tcPr>
                    <a:solidFill>
                      <a:srgbClr val="18212F"/>
                    </a:solidFill>
                  </a:tcPr>
                </a:tc>
                <a:tc>
                  <a:txBody>
                    <a:bodyPr/>
                    <a:lstStyle/>
                    <a:p>
                      <a:pPr>
                        <a:defRPr sz="1000">
                          <a:solidFill>
                            <a:srgbClr val="F8FAFC"/>
                          </a:solidFill>
                          <a:latin typeface="Segoe UI"/>
                        </a:defRPr>
                      </a:pPr>
                      <a:r>
                        <a:t>Progressive buffer &amp; queue utilization buildup over minutes.</a:t>
                      </a:r>
                    </a:p>
                  </a:txBody>
                  <a:tcPr>
                    <a:solidFill>
                      <a:srgbClr val="18212F"/>
                    </a:solidFill>
                  </a:tcPr>
                </a:tc>
                <a:tc>
                  <a:txBody>
                    <a:bodyPr/>
                    <a:lstStyle/>
                    <a:p>
                      <a:pPr>
                        <a:defRPr sz="1000">
                          <a:solidFill>
                            <a:srgbClr val="F8FAFC"/>
                          </a:solidFill>
                          <a:latin typeface="Segoe UI"/>
                        </a:defRPr>
                      </a:pPr>
                      <a:r>
                        <a:t>Moderate / Unchanged</a:t>
                      </a:r>
                    </a:p>
                  </a:txBody>
                  <a:tcPr>
                    <a:solidFill>
                      <a:srgbClr val="18212F"/>
                    </a:solidFill>
                  </a:tcPr>
                </a:tc>
                <a:tc>
                  <a:txBody>
                    <a:bodyPr/>
                    <a:lstStyle/>
                    <a:p>
                      <a:pPr>
                        <a:defRPr sz="1000">
                          <a:solidFill>
                            <a:srgbClr val="F8FAFC"/>
                          </a:solidFill>
                          <a:latin typeface="Segoe UI"/>
                        </a:defRPr>
                      </a:pPr>
                      <a:r>
                        <a:t>Gradual Increase</a:t>
                      </a:r>
                    </a:p>
                  </a:txBody>
                  <a:tcPr>
                    <a:solidFill>
                      <a:srgbClr val="18212F"/>
                    </a:solidFill>
                  </a:tcPr>
                </a:tc>
                <a:tc>
                  <a:txBody>
                    <a:bodyPr/>
                    <a:lstStyle/>
                    <a:p>
                      <a:pPr>
                        <a:defRPr sz="1000">
                          <a:solidFill>
                            <a:srgbClr val="F8FAFC"/>
                          </a:solidFill>
                          <a:latin typeface="Segoe UI"/>
                        </a:defRPr>
                      </a:pPr>
                      <a:r>
                        <a:t>Proactive Predictive Rerouting to Alternate Core Path</a:t>
                      </a:r>
                    </a:p>
                  </a:txBody>
                  <a:tcPr>
                    <a:solidFill>
                      <a:srgbClr val="18212F"/>
                    </a:solidFill>
                  </a:tcPr>
                </a:tc>
              </a:tr>
              <a:tr h="716280">
                <a:tc>
                  <a:txBody>
                    <a:bodyPr/>
                    <a:lstStyle/>
                    <a:p>
                      <a:pPr>
                        <a:defRPr sz="1000" b="1">
                          <a:solidFill>
                            <a:srgbClr val="A855F7"/>
                          </a:solidFill>
                          <a:latin typeface="Segoe UI"/>
                        </a:defRPr>
                      </a:pPr>
                      <a:r>
                        <a:t>5. Physical Link Failure</a:t>
                      </a:r>
                    </a:p>
                  </a:txBody>
                  <a:tcPr>
                    <a:solidFill>
                      <a:srgbClr val="1E293B"/>
                    </a:solidFill>
                  </a:tcPr>
                </a:tc>
                <a:tc>
                  <a:txBody>
                    <a:bodyPr/>
                    <a:lstStyle/>
                    <a:p>
                      <a:pPr>
                        <a:defRPr sz="1000">
                          <a:solidFill>
                            <a:srgbClr val="F8FAFC"/>
                          </a:solidFill>
                          <a:latin typeface="Segoe UI"/>
                        </a:defRPr>
                      </a:pPr>
                      <a:r>
                        <a:t>Physical fiber cut / port down mid-transmission.</a:t>
                      </a:r>
                    </a:p>
                  </a:txBody>
                  <a:tcPr>
                    <a:solidFill>
                      <a:srgbClr val="1E293B"/>
                    </a:solidFill>
                  </a:tcPr>
                </a:tc>
                <a:tc>
                  <a:txBody>
                    <a:bodyPr/>
                    <a:lstStyle/>
                    <a:p>
                      <a:pPr>
                        <a:defRPr sz="1000">
                          <a:solidFill>
                            <a:srgbClr val="F8FAFC"/>
                          </a:solidFill>
                          <a:latin typeface="Segoe UI"/>
                        </a:defRPr>
                      </a:pPr>
                      <a:r>
                        <a:t>Zero on broken link</a:t>
                      </a:r>
                    </a:p>
                  </a:txBody>
                  <a:tcPr>
                    <a:solidFill>
                      <a:srgbClr val="1E293B"/>
                    </a:solidFill>
                  </a:tcPr>
                </a:tc>
                <a:tc>
                  <a:txBody>
                    <a:bodyPr/>
                    <a:lstStyle/>
                    <a:p>
                      <a:pPr>
                        <a:defRPr sz="1000">
                          <a:solidFill>
                            <a:srgbClr val="F8FAFC"/>
                          </a:solidFill>
                          <a:latin typeface="Segoe UI"/>
                        </a:defRPr>
                      </a:pPr>
                      <a:r>
                        <a:t>Immediate 100% loss</a:t>
                      </a:r>
                    </a:p>
                  </a:txBody>
                  <a:tcPr>
                    <a:solidFill>
                      <a:srgbClr val="1E293B"/>
                    </a:solidFill>
                  </a:tcPr>
                </a:tc>
                <a:tc>
                  <a:txBody>
                    <a:bodyPr/>
                    <a:lstStyle/>
                    <a:p>
                      <a:pPr>
                        <a:defRPr sz="1000">
                          <a:solidFill>
                            <a:srgbClr val="F8FAFC"/>
                          </a:solidFill>
                          <a:latin typeface="Segoe UI"/>
                        </a:defRPr>
                      </a:pPr>
                      <a:r>
                        <a:t>Immediate Sub-Second Failover to Redundant Core Path</a:t>
                      </a:r>
                    </a:p>
                  </a:txBody>
                  <a:tcPr>
                    <a:solidFill>
                      <a:srgbClr val="1E293B"/>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square" lIns="0" tIns="0" rIns="0" bIns="0">
            <a:spAutoFit/>
          </a:bodyPr>
          <a:lstStyle/>
          <a:p>
            <a:pPr>
              <a:defRPr sz="1050" b="1">
                <a:solidFill>
                  <a:srgbClr val="38BDF8"/>
                </a:solidFill>
                <a:latin typeface="Segoe UI"/>
              </a:defRPr>
            </a:pPr>
            <a:r>
              <a:t>TELEMETRY &amp; FEATURES</a:t>
            </a:r>
          </a:p>
        </p:txBody>
      </p:sp>
      <p:sp>
        <p:nvSpPr>
          <p:cNvPr id="4" name="TextBox 3"/>
          <p:cNvSpPr txBox="1"/>
          <p:nvPr/>
        </p:nvSpPr>
        <p:spPr>
          <a:xfrm>
            <a:off x="731520" y="777240"/>
            <a:ext cx="10698480" cy="594360"/>
          </a:xfrm>
          <a:prstGeom prst="rect">
            <a:avLst/>
          </a:prstGeom>
          <a:noFill/>
        </p:spPr>
        <p:txBody>
          <a:bodyPr wrap="square" lIns="0" tIns="0" rIns="0" bIns="0">
            <a:spAutoFit/>
          </a:bodyPr>
          <a:lstStyle/>
          <a:p>
            <a:pPr>
              <a:defRPr sz="2400" b="1">
                <a:solidFill>
                  <a:srgbClr val="F8FAFC"/>
                </a:solidFill>
                <a:latin typeface="Segoe UI"/>
              </a:defRPr>
            </a:pPr>
            <a:r>
              <a:t>Real-Time Feature Engineering Pipeline</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300">
                <a:solidFill>
                  <a:srgbClr val="94A3B8"/>
                </a:solidFill>
                <a:latin typeface="Segoe UI"/>
              </a:defRPr>
            </a:pPr>
            <a:r>
              <a:t>Transforming raw OpenFlow 1.3 counters into high-discrimination ML feature vectors.</a:t>
            </a:r>
          </a:p>
        </p:txBody>
      </p:sp>
      <p:sp>
        <p:nvSpPr>
          <p:cNvPr id="6" name="Rounded Rectangle 5"/>
          <p:cNvSpPr/>
          <p:nvPr/>
        </p:nvSpPr>
        <p:spPr>
          <a:xfrm>
            <a:off x="731520" y="1920240"/>
            <a:ext cx="5212080" cy="201168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4846320" cy="1737360"/>
          </a:xfrm>
          <a:prstGeom prst="rect">
            <a:avLst/>
          </a:prstGeom>
          <a:noFill/>
        </p:spPr>
        <p:txBody>
          <a:bodyPr wrap="square">
            <a:spAutoFit/>
          </a:bodyPr>
          <a:lstStyle/>
          <a:p>
            <a:pPr>
              <a:spcAft>
                <a:spcPts val="400"/>
              </a:spcAft>
              <a:defRPr sz="1400" b="1">
                <a:solidFill>
                  <a:srgbClr val="38BDF8"/>
                </a:solidFill>
                <a:latin typeface="Segoe UI"/>
              </a:defRPr>
            </a:pPr>
            <a:r>
              <a:t>Shannon Entropy of Source IPs</a:t>
            </a:r>
          </a:p>
          <a:p>
            <a:pPr>
              <a:spcAft>
                <a:spcPts val="600"/>
              </a:spcAft>
              <a:defRPr sz="1100">
                <a:solidFill>
                  <a:srgbClr val="94A3B8"/>
                </a:solidFill>
                <a:latin typeface="Consolas"/>
              </a:defRPr>
            </a:pPr>
            <a:r>
              <a:t>Formula / Metric: H = -\sum p_i \log_2 p_i</a:t>
            </a:r>
          </a:p>
          <a:p>
            <a:pPr>
              <a:defRPr sz="1100">
                <a:solidFill>
                  <a:srgbClr val="F8FAFC"/>
                </a:solidFill>
                <a:latin typeface="Segoe UI"/>
              </a:defRPr>
            </a:pPr>
            <a:r>
              <a:t>Crucial for separating Flash Crowd (many real diverse IPs -&gt; high entropy) from DDoS Floods (spoofed/few IPs -&gt; low entropy).</a:t>
            </a:r>
          </a:p>
        </p:txBody>
      </p:sp>
      <p:sp>
        <p:nvSpPr>
          <p:cNvPr id="8" name="Rounded Rectangle 7"/>
          <p:cNvSpPr/>
          <p:nvPr/>
        </p:nvSpPr>
        <p:spPr>
          <a:xfrm>
            <a:off x="6172200" y="1920240"/>
            <a:ext cx="5212080" cy="2011680"/>
          </a:xfrm>
          <a:prstGeom prst="roundRect">
            <a:avLst/>
          </a:prstGeom>
          <a:solidFill>
            <a:srgbClr val="1E293B"/>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2057400"/>
            <a:ext cx="4846320" cy="1737360"/>
          </a:xfrm>
          <a:prstGeom prst="rect">
            <a:avLst/>
          </a:prstGeom>
          <a:noFill/>
        </p:spPr>
        <p:txBody>
          <a:bodyPr wrap="square">
            <a:spAutoFit/>
          </a:bodyPr>
          <a:lstStyle/>
          <a:p>
            <a:pPr>
              <a:spcAft>
                <a:spcPts val="400"/>
              </a:spcAft>
              <a:defRPr sz="1400" b="1">
                <a:solidFill>
                  <a:srgbClr val="3B82F6"/>
                </a:solidFill>
                <a:latin typeface="Segoe UI"/>
              </a:defRPr>
            </a:pPr>
            <a:r>
              <a:t>Packet Rate (pps) &amp; Byte Rate (Bps)</a:t>
            </a:r>
          </a:p>
          <a:p>
            <a:pPr>
              <a:spcAft>
                <a:spcPts val="600"/>
              </a:spcAft>
              <a:defRPr sz="1100">
                <a:solidFill>
                  <a:srgbClr val="94A3B8"/>
                </a:solidFill>
                <a:latin typeface="Consolas"/>
              </a:defRPr>
            </a:pPr>
            <a:r>
              <a:t>Formula / Metric: \Delta packets / \Delta t, \Delta bytes / \Delta t</a:t>
            </a:r>
          </a:p>
          <a:p>
            <a:pPr>
              <a:defRPr sz="1100">
                <a:solidFill>
                  <a:srgbClr val="F8FAFC"/>
                </a:solidFill>
                <a:latin typeface="Segoe UI"/>
              </a:defRPr>
            </a:pPr>
            <a:r>
              <a:t>Captures volumetric surges and sudden rate spikes. Computed over a 2-second rolling window across all active switches.</a:t>
            </a:r>
          </a:p>
        </p:txBody>
      </p:sp>
      <p:sp>
        <p:nvSpPr>
          <p:cNvPr id="10" name="Rounded Rectangle 9"/>
          <p:cNvSpPr/>
          <p:nvPr/>
        </p:nvSpPr>
        <p:spPr>
          <a:xfrm>
            <a:off x="731520" y="4114800"/>
            <a:ext cx="5212080" cy="2011680"/>
          </a:xfrm>
          <a:prstGeom prst="roundRect">
            <a:avLst/>
          </a:prstGeom>
          <a:solidFill>
            <a:srgbClr val="1E293B"/>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51960"/>
            <a:ext cx="4846320" cy="1737360"/>
          </a:xfrm>
          <a:prstGeom prst="rect">
            <a:avLst/>
          </a:prstGeom>
          <a:noFill/>
        </p:spPr>
        <p:txBody>
          <a:bodyPr wrap="square">
            <a:spAutoFit/>
          </a:bodyPr>
          <a:lstStyle/>
          <a:p>
            <a:pPr>
              <a:spcAft>
                <a:spcPts val="400"/>
              </a:spcAft>
              <a:defRPr sz="1400" b="1">
                <a:solidFill>
                  <a:srgbClr val="A855F7"/>
                </a:solidFill>
                <a:latin typeface="Segoe UI"/>
              </a:defRPr>
            </a:pPr>
            <a:r>
              <a:t>Packet Size Mean &amp; Variance</a:t>
            </a:r>
          </a:p>
          <a:p>
            <a:pPr>
              <a:spcAft>
                <a:spcPts val="600"/>
              </a:spcAft>
              <a:defRPr sz="1100">
                <a:solidFill>
                  <a:srgbClr val="94A3B8"/>
                </a:solidFill>
                <a:latin typeface="Consolas"/>
              </a:defRPr>
            </a:pPr>
            <a:r>
              <a:t>Formula / Metric: \mu_{pkt}, \sigma_{pkt}^2</a:t>
            </a:r>
          </a:p>
          <a:p>
            <a:pPr>
              <a:defRPr sz="1100">
                <a:solidFill>
                  <a:srgbClr val="F8FAFC"/>
                </a:solidFill>
                <a:latin typeface="Segoe UI"/>
              </a:defRPr>
            </a:pPr>
            <a:r>
              <a:t>DDoS floods exhibit highly uniform packet sizes (zero variance), whereas legitimate traffic exhibits diverse MTU distributions.</a:t>
            </a:r>
          </a:p>
        </p:txBody>
      </p:sp>
      <p:sp>
        <p:nvSpPr>
          <p:cNvPr id="12" name="Rounded Rectangle 11"/>
          <p:cNvSpPr/>
          <p:nvPr/>
        </p:nvSpPr>
        <p:spPr>
          <a:xfrm>
            <a:off x="6172200" y="4114800"/>
            <a:ext cx="5212080" cy="201168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4251960"/>
            <a:ext cx="4846320" cy="1737360"/>
          </a:xfrm>
          <a:prstGeom prst="rect">
            <a:avLst/>
          </a:prstGeom>
          <a:noFill/>
        </p:spPr>
        <p:txBody>
          <a:bodyPr wrap="square">
            <a:spAutoFit/>
          </a:bodyPr>
          <a:lstStyle/>
          <a:p>
            <a:pPr>
              <a:spcAft>
                <a:spcPts val="400"/>
              </a:spcAft>
              <a:defRPr sz="1400" b="1">
                <a:solidFill>
                  <a:srgbClr val="F59E0B"/>
                </a:solidFill>
                <a:latin typeface="Segoe UI"/>
              </a:defRPr>
            </a:pPr>
            <a:r>
              <a:t>Port Status &amp; Drop Counters</a:t>
            </a:r>
          </a:p>
          <a:p>
            <a:pPr>
              <a:spcAft>
                <a:spcPts val="600"/>
              </a:spcAft>
              <a:defRPr sz="1100">
                <a:solidFill>
                  <a:srgbClr val="94A3B8"/>
                </a:solidFill>
                <a:latin typeface="Consolas"/>
              </a:defRPr>
            </a:pPr>
            <a:r>
              <a:t>Formula / Metric: port\_status, rx\_dropped, tx\_dropped</a:t>
            </a:r>
          </a:p>
          <a:p>
            <a:pPr>
              <a:defRPr sz="1100">
                <a:solidFill>
                  <a:srgbClr val="F8FAFC"/>
                </a:solidFill>
                <a:latin typeface="Segoe UI"/>
              </a:defRPr>
            </a:pPr>
            <a:r>
              <a:t>Provides direct hardware ground truth: port_status=0 immediately flags link failure, while drop counters isolate congestion.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square" lIns="0" tIns="0" rIns="0" bIns="0">
            <a:spAutoFit/>
          </a:bodyPr>
          <a:lstStyle/>
          <a:p>
            <a:pPr>
              <a:defRPr sz="1050" b="1">
                <a:solidFill>
                  <a:srgbClr val="38BDF8"/>
                </a:solidFill>
                <a:latin typeface="Segoe UI"/>
              </a:defRPr>
            </a:pPr>
            <a:r>
              <a:t>MACHINE LEARNING</a:t>
            </a:r>
          </a:p>
        </p:txBody>
      </p:sp>
      <p:sp>
        <p:nvSpPr>
          <p:cNvPr id="4" name="TextBox 3"/>
          <p:cNvSpPr txBox="1"/>
          <p:nvPr/>
        </p:nvSpPr>
        <p:spPr>
          <a:xfrm>
            <a:off x="731520" y="777240"/>
            <a:ext cx="10698480" cy="594360"/>
          </a:xfrm>
          <a:prstGeom prst="rect">
            <a:avLst/>
          </a:prstGeom>
          <a:noFill/>
        </p:spPr>
        <p:txBody>
          <a:bodyPr wrap="square" lIns="0" tIns="0" rIns="0" bIns="0">
            <a:spAutoFit/>
          </a:bodyPr>
          <a:lstStyle/>
          <a:p>
            <a:pPr>
              <a:defRPr sz="2400" b="1">
                <a:solidFill>
                  <a:srgbClr val="F8FAFC"/>
                </a:solidFill>
                <a:latin typeface="Segoe UI"/>
              </a:defRPr>
            </a:pPr>
            <a:r>
              <a:t>AI Anomaly Classifier Architecture</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300">
                <a:solidFill>
                  <a:srgbClr val="94A3B8"/>
                </a:solidFill>
                <a:latin typeface="Segoe UI"/>
              </a:defRPr>
            </a:pPr>
            <a:r>
              <a:t>Robust multi-class model training, hyperparameter optimization, and evaluation.</a:t>
            </a:r>
          </a:p>
        </p:txBody>
      </p:sp>
      <p:sp>
        <p:nvSpPr>
          <p:cNvPr id="6" name="Rounded Rectangle 5"/>
          <p:cNvSpPr/>
          <p:nvPr/>
        </p:nvSpPr>
        <p:spPr>
          <a:xfrm>
            <a:off x="731520" y="1920240"/>
            <a:ext cx="5212080" cy="429768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4663440" cy="3931920"/>
          </a:xfrm>
          <a:prstGeom prst="rect">
            <a:avLst/>
          </a:prstGeom>
          <a:noFill/>
        </p:spPr>
        <p:txBody>
          <a:bodyPr wrap="square">
            <a:spAutoFit/>
          </a:bodyPr>
          <a:lstStyle/>
          <a:p>
            <a:pPr>
              <a:spcAft>
                <a:spcPts val="1200"/>
              </a:spcAft>
              <a:defRPr sz="1700" b="1">
                <a:solidFill>
                  <a:srgbClr val="10B981"/>
                </a:solidFill>
                <a:latin typeface="Segoe UI"/>
              </a:defRPr>
            </a:pPr>
            <a:r>
              <a:t>Classifier Models &amp; Methodology</a:t>
            </a:r>
          </a:p>
          <a:p>
            <a:pPr>
              <a:spcAft>
                <a:spcPts val="800"/>
              </a:spcAft>
              <a:defRPr sz="1150">
                <a:solidFill>
                  <a:srgbClr val="F8FAFC"/>
                </a:solidFill>
                <a:latin typeface="Segoe UI"/>
              </a:defRPr>
            </a:pPr>
            <a:r>
              <a:t>• Ensemble Architecture: Evaluated Random Forest (100 estimators, max depth 12) vs. Gradient Boosting (learning rate 0.1).</a:t>
            </a:r>
          </a:p>
          <a:p>
            <a:pPr>
              <a:spcAft>
                <a:spcPts val="800"/>
              </a:spcAft>
              <a:defRPr sz="1150">
                <a:solidFill>
                  <a:srgbClr val="F8FAFC"/>
                </a:solidFill>
                <a:latin typeface="Segoe UI"/>
              </a:defRPr>
            </a:pPr>
            <a:r>
              <a:t>• Feature Vector (10 Dimensions): [packet_rate, byte_rate, flow_duration, ip_src_count, ip_src_entropy, avg_packet_size, std_packet_size, port_status, rx_dropped, tx_dropped].</a:t>
            </a:r>
          </a:p>
          <a:p>
            <a:pPr>
              <a:spcAft>
                <a:spcPts val="800"/>
              </a:spcAft>
              <a:defRPr sz="1150">
                <a:solidFill>
                  <a:srgbClr val="F8FAFC"/>
                </a:solidFill>
                <a:latin typeface="Segoe UI"/>
              </a:defRPr>
            </a:pPr>
            <a:r>
              <a:t>• Stratified 5-Fold Cross Validation: Guarantees generalization and prevents class imbalance bias across all 5 operational conditions.</a:t>
            </a:r>
          </a:p>
          <a:p>
            <a:pPr>
              <a:spcAft>
                <a:spcPts val="800"/>
              </a:spcAft>
              <a:defRPr sz="1150">
                <a:solidFill>
                  <a:srgbClr val="F8FAFC"/>
                </a:solidFill>
                <a:latin typeface="Segoe UI"/>
              </a:defRPr>
            </a:pPr>
            <a:r>
              <a:t>• Fast Inference Pipeline: Model serialized with joblib; sub-15ms inference latency ensures zero control plane bottlenecks.</a:t>
            </a:r>
          </a:p>
        </p:txBody>
      </p:sp>
      <p:sp>
        <p:nvSpPr>
          <p:cNvPr id="8" name="Rounded Rectangle 7"/>
          <p:cNvSpPr/>
          <p:nvPr/>
        </p:nvSpPr>
        <p:spPr>
          <a:xfrm>
            <a:off x="6217920" y="1920240"/>
            <a:ext cx="5212080" cy="429768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03120"/>
            <a:ext cx="4663440" cy="3931920"/>
          </a:xfrm>
          <a:prstGeom prst="rect">
            <a:avLst/>
          </a:prstGeom>
          <a:noFill/>
        </p:spPr>
        <p:txBody>
          <a:bodyPr wrap="square">
            <a:spAutoFit/>
          </a:bodyPr>
          <a:lstStyle/>
          <a:p>
            <a:pPr>
              <a:spcAft>
                <a:spcPts val="1200"/>
              </a:spcAft>
              <a:defRPr sz="1700" b="1">
                <a:solidFill>
                  <a:srgbClr val="38BDF8"/>
                </a:solidFill>
                <a:latin typeface="Segoe UI"/>
              </a:defRPr>
            </a:pPr>
            <a:r>
              <a:t>Feature Importance &amp; Decision Rules</a:t>
            </a:r>
          </a:p>
          <a:p>
            <a:pPr>
              <a:spcAft>
                <a:spcPts val="800"/>
              </a:spcAft>
              <a:defRPr sz="1150">
                <a:solidFill>
                  <a:srgbClr val="F8FAFC"/>
                </a:solidFill>
                <a:latin typeface="Segoe UI"/>
              </a:defRPr>
            </a:pPr>
            <a:r>
              <a:t>✔ Shannon Entropy (~32% Importance): Primary discriminator between distributed flash crowds and single-vector DDoS attacks.</a:t>
            </a:r>
          </a:p>
          <a:p>
            <a:pPr>
              <a:spcAft>
                <a:spcPts val="800"/>
              </a:spcAft>
              <a:defRPr sz="1150">
                <a:solidFill>
                  <a:srgbClr val="F8FAFC"/>
                </a:solidFill>
                <a:latin typeface="Segoe UI"/>
              </a:defRPr>
            </a:pPr>
            <a:r>
              <a:t>✔ Port Status (~25% Importance): Direct hardware ground truth; immediate decision boundary for link failure detection.</a:t>
            </a:r>
          </a:p>
          <a:p>
            <a:pPr>
              <a:spcAft>
                <a:spcPts val="800"/>
              </a:spcAft>
              <a:defRPr sz="1150">
                <a:solidFill>
                  <a:srgbClr val="F8FAFC"/>
                </a:solidFill>
                <a:latin typeface="Segoe UI"/>
              </a:defRPr>
            </a:pPr>
            <a:r>
              <a:t>✔ Packet Rate &amp; Byte Rate (~20% Importance): Separates normal idle/baseline traffic from volumetric surge states.</a:t>
            </a:r>
          </a:p>
          <a:p>
            <a:pPr>
              <a:spcAft>
                <a:spcPts val="800"/>
              </a:spcAft>
              <a:defRPr sz="1150">
                <a:solidFill>
                  <a:srgbClr val="F8FAFC"/>
                </a:solidFill>
                <a:latin typeface="Segoe UI"/>
              </a:defRPr>
            </a:pPr>
            <a:r>
              <a:t>✔ Packet Size Variance (~13% Importance): Catches botnet floods crafted with static payload lengths.</a:t>
            </a:r>
          </a:p>
          <a:p>
            <a:pPr>
              <a:spcAft>
                <a:spcPts val="800"/>
              </a:spcAft>
              <a:defRPr sz="1150">
                <a:solidFill>
                  <a:srgbClr val="F8FAFC"/>
                </a:solidFill>
                <a:latin typeface="Segoe UI"/>
              </a:defRPr>
            </a:pPr>
            <a:r>
              <a:t>✔ Port Drop Counters (~10% Importance): Reliably flags internal queue saturation before total link exhaustion occurs.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square" lIns="0" tIns="0" rIns="0" bIns="0">
            <a:spAutoFit/>
          </a:bodyPr>
          <a:lstStyle/>
          <a:p>
            <a:pPr>
              <a:defRPr sz="1050" b="1">
                <a:solidFill>
                  <a:srgbClr val="38BDF8"/>
                </a:solidFill>
                <a:latin typeface="Segoe UI"/>
              </a:defRPr>
            </a:pPr>
            <a:r>
              <a:t>AUTONOMIC REMEDIATION</a:t>
            </a:r>
          </a:p>
        </p:txBody>
      </p:sp>
      <p:sp>
        <p:nvSpPr>
          <p:cNvPr id="4" name="TextBox 3"/>
          <p:cNvSpPr txBox="1"/>
          <p:nvPr/>
        </p:nvSpPr>
        <p:spPr>
          <a:xfrm>
            <a:off x="731520" y="777240"/>
            <a:ext cx="10698480" cy="594360"/>
          </a:xfrm>
          <a:prstGeom prst="rect">
            <a:avLst/>
          </a:prstGeom>
          <a:noFill/>
        </p:spPr>
        <p:txBody>
          <a:bodyPr wrap="square" lIns="0" tIns="0" rIns="0" bIns="0">
            <a:spAutoFit/>
          </a:bodyPr>
          <a:lstStyle/>
          <a:p>
            <a:pPr>
              <a:defRPr sz="2400" b="1">
                <a:solidFill>
                  <a:srgbClr val="F8FAFC"/>
                </a:solidFill>
                <a:latin typeface="Segoe UI"/>
              </a:defRPr>
            </a:pPr>
            <a:r>
              <a:t>Differentiated OpenFlow Auto-Remediation</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300">
                <a:solidFill>
                  <a:srgbClr val="94A3B8"/>
                </a:solidFill>
                <a:latin typeface="Segoe UI"/>
              </a:defRPr>
            </a:pPr>
            <a:r>
              <a:t>Class-specific programmatic interventions applied dynamically to Open vSwitch datapath flow tables.</a:t>
            </a:r>
          </a:p>
        </p:txBody>
      </p:sp>
      <p:sp>
        <p:nvSpPr>
          <p:cNvPr id="6" name="Rounded Rectangle 5"/>
          <p:cNvSpPr/>
          <p:nvPr/>
        </p:nvSpPr>
        <p:spPr>
          <a:xfrm>
            <a:off x="731520" y="1920240"/>
            <a:ext cx="5212080" cy="201168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4846320" cy="1737360"/>
          </a:xfrm>
          <a:prstGeom prst="rect">
            <a:avLst/>
          </a:prstGeom>
          <a:noFill/>
        </p:spPr>
        <p:txBody>
          <a:bodyPr wrap="square">
            <a:spAutoFit/>
          </a:bodyPr>
          <a:lstStyle/>
          <a:p>
            <a:pPr>
              <a:spcAft>
                <a:spcPts val="400"/>
              </a:spcAft>
              <a:defRPr sz="1300" b="1">
                <a:solidFill>
                  <a:srgbClr val="10B981"/>
                </a:solidFill>
                <a:latin typeface="Segoe UI"/>
              </a:defRPr>
            </a:pPr>
            <a:r>
              <a:t>Flash-Crowd Surge -&gt; Dynamic Load Balancing</a:t>
            </a:r>
          </a:p>
          <a:p>
            <a:pPr>
              <a:defRPr b="1" sz="1050">
                <a:solidFill>
                  <a:srgbClr val="94A3B8"/>
                </a:solidFill>
              </a:defRPr>
            </a:pPr>
            <a:r>
              <a:t>OpenFlow Action Mechanism:</a:t>
            </a:r>
          </a:p>
          <a:p>
            <a:pPr>
              <a:defRPr sz="1050">
                <a:solidFill>
                  <a:srgbClr val="F8FAFC"/>
                </a:solidFill>
                <a:latin typeface="Segoe UI"/>
              </a:defRPr>
            </a:pPr>
            <a:r>
              <a:t>Installs OFPGT_SELECT (OpenFlow 1.3 Group Table) on Switch s1. Splits incoming client flows evenly across Path A (s2) and Path B (s3) using hash-based multipath distribution. Prevents Core link saturation while maintaining 100% legitimate client delivery.</a:t>
            </a:r>
          </a:p>
        </p:txBody>
      </p:sp>
      <p:sp>
        <p:nvSpPr>
          <p:cNvPr id="8" name="Rounded Rectangle 7"/>
          <p:cNvSpPr/>
          <p:nvPr/>
        </p:nvSpPr>
        <p:spPr>
          <a:xfrm>
            <a:off x="6172200" y="1920240"/>
            <a:ext cx="5212080" cy="2011680"/>
          </a:xfrm>
          <a:prstGeom prst="roundRect">
            <a:avLst/>
          </a:prstGeom>
          <a:solidFill>
            <a:srgbClr val="1E293B"/>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2057400"/>
            <a:ext cx="4846320" cy="1737360"/>
          </a:xfrm>
          <a:prstGeom prst="rect">
            <a:avLst/>
          </a:prstGeom>
          <a:noFill/>
        </p:spPr>
        <p:txBody>
          <a:bodyPr wrap="square">
            <a:spAutoFit/>
          </a:bodyPr>
          <a:lstStyle/>
          <a:p>
            <a:pPr>
              <a:spcAft>
                <a:spcPts val="400"/>
              </a:spcAft>
              <a:defRPr sz="1300" b="1">
                <a:solidFill>
                  <a:srgbClr val="EF4444"/>
                </a:solidFill>
                <a:latin typeface="Segoe UI"/>
              </a:defRPr>
            </a:pPr>
            <a:r>
              <a:t>DDoS Flood -&gt; Ingress Rate-Limiting &amp; Blocking</a:t>
            </a:r>
          </a:p>
          <a:p>
            <a:pPr>
              <a:defRPr b="1" sz="1050">
                <a:solidFill>
                  <a:srgbClr val="94A3B8"/>
                </a:solidFill>
              </a:defRPr>
            </a:pPr>
            <a:r>
              <a:t>OpenFlow Action Mechanism:</a:t>
            </a:r>
          </a:p>
          <a:p>
            <a:pPr>
              <a:defRPr sz="1050">
                <a:solidFill>
                  <a:srgbClr val="F8FAFC"/>
                </a:solidFill>
                <a:latin typeface="Segoe UI"/>
              </a:defRPr>
            </a:pPr>
            <a:r>
              <a:t>Installs high-priority drop rules matched on malicious flow signatures at Ingress Switch s1 (closest to attack sources). Concurrently isolates legitimate client flows and steers them through alternate clean links, eliminating collateral loss.</a:t>
            </a:r>
          </a:p>
        </p:txBody>
      </p:sp>
      <p:sp>
        <p:nvSpPr>
          <p:cNvPr id="10" name="Rounded Rectangle 9"/>
          <p:cNvSpPr/>
          <p:nvPr/>
        </p:nvSpPr>
        <p:spPr>
          <a:xfrm>
            <a:off x="731520" y="4114800"/>
            <a:ext cx="5212080" cy="201168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51960"/>
            <a:ext cx="4846320" cy="1737360"/>
          </a:xfrm>
          <a:prstGeom prst="rect">
            <a:avLst/>
          </a:prstGeom>
          <a:noFill/>
        </p:spPr>
        <p:txBody>
          <a:bodyPr wrap="square">
            <a:spAutoFit/>
          </a:bodyPr>
          <a:lstStyle/>
          <a:p>
            <a:pPr>
              <a:spcAft>
                <a:spcPts val="400"/>
              </a:spcAft>
              <a:defRPr sz="1300" b="1">
                <a:solidFill>
                  <a:srgbClr val="F59E0B"/>
                </a:solidFill>
                <a:latin typeface="Segoe UI"/>
              </a:defRPr>
            </a:pPr>
            <a:r>
              <a:t>Slow Congestion -&gt; Predictive Proactive Rerouting</a:t>
            </a:r>
          </a:p>
          <a:p>
            <a:pPr>
              <a:defRPr b="1" sz="1050">
                <a:solidFill>
                  <a:srgbClr val="94A3B8"/>
                </a:solidFill>
              </a:defRPr>
            </a:pPr>
            <a:r>
              <a:t>OpenFlow Action Mechanism:</a:t>
            </a:r>
          </a:p>
          <a:p>
            <a:pPr>
              <a:defRPr sz="1050">
                <a:solidFill>
                  <a:srgbClr val="F8FAFC"/>
                </a:solidFill>
                <a:latin typeface="Segoe UI"/>
              </a:defRPr>
            </a:pPr>
            <a:r>
              <a:t>Monitors progressive buffer utilization. Before packet drops reach critical threshold, preemptively modifies flow table entries on s1 to shift bulk traffic to under-utilized Path B, smoothing queue latency with zero packet drops.</a:t>
            </a:r>
          </a:p>
        </p:txBody>
      </p:sp>
      <p:sp>
        <p:nvSpPr>
          <p:cNvPr id="12" name="Rounded Rectangle 11"/>
          <p:cNvSpPr/>
          <p:nvPr/>
        </p:nvSpPr>
        <p:spPr>
          <a:xfrm>
            <a:off x="6172200" y="4114800"/>
            <a:ext cx="5212080" cy="2011680"/>
          </a:xfrm>
          <a:prstGeom prst="roundRect">
            <a:avLst/>
          </a:prstGeom>
          <a:solidFill>
            <a:srgbClr val="1E293B"/>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4251960"/>
            <a:ext cx="4846320" cy="1737360"/>
          </a:xfrm>
          <a:prstGeom prst="rect">
            <a:avLst/>
          </a:prstGeom>
          <a:noFill/>
        </p:spPr>
        <p:txBody>
          <a:bodyPr wrap="square">
            <a:spAutoFit/>
          </a:bodyPr>
          <a:lstStyle/>
          <a:p>
            <a:pPr>
              <a:spcAft>
                <a:spcPts val="400"/>
              </a:spcAft>
              <a:defRPr sz="1300" b="1">
                <a:solidFill>
                  <a:srgbClr val="A855F7"/>
                </a:solidFill>
                <a:latin typeface="Segoe UI"/>
              </a:defRPr>
            </a:pPr>
            <a:r>
              <a:t>Link Failure -&gt; Sub-Second Port Failover</a:t>
            </a:r>
          </a:p>
          <a:p>
            <a:pPr>
              <a:defRPr b="1" sz="1050">
                <a:solidFill>
                  <a:srgbClr val="94A3B8"/>
                </a:solidFill>
              </a:defRPr>
            </a:pPr>
            <a:r>
              <a:t>OpenFlow Action Mechanism:</a:t>
            </a:r>
          </a:p>
          <a:p>
            <a:pPr>
              <a:defRPr sz="1050">
                <a:solidFill>
                  <a:srgbClr val="F8FAFC"/>
                </a:solidFill>
                <a:latin typeface="Segoe UI"/>
              </a:defRPr>
            </a:pPr>
            <a:r>
              <a:t>Upon receipt of OFPPR_DELETE / Port-Down event from Switch s2, controller executes instantaneous failover by rewriting s1's egress port to Path B. Total convergence time is sub-second (&lt;50ms), preserving active TCP sessions.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square" lIns="0" tIns="0" rIns="0" bIns="0">
            <a:spAutoFit/>
          </a:bodyPr>
          <a:lstStyle/>
          <a:p>
            <a:pPr>
              <a:defRPr sz="1050" b="1">
                <a:solidFill>
                  <a:srgbClr val="38BDF8"/>
                </a:solidFill>
                <a:latin typeface="Segoe UI"/>
              </a:defRPr>
            </a:pPr>
            <a:r>
              <a:t>COMPARATIVE BENCHMARK</a:t>
            </a:r>
          </a:p>
        </p:txBody>
      </p:sp>
      <p:sp>
        <p:nvSpPr>
          <p:cNvPr id="4" name="TextBox 3"/>
          <p:cNvSpPr txBox="1"/>
          <p:nvPr/>
        </p:nvSpPr>
        <p:spPr>
          <a:xfrm>
            <a:off x="731520" y="777240"/>
            <a:ext cx="10698480" cy="594360"/>
          </a:xfrm>
          <a:prstGeom prst="rect">
            <a:avLst/>
          </a:prstGeom>
          <a:noFill/>
        </p:spPr>
        <p:txBody>
          <a:bodyPr wrap="square" lIns="0" tIns="0" rIns="0" bIns="0">
            <a:spAutoFit/>
          </a:bodyPr>
          <a:lstStyle/>
          <a:p>
            <a:pPr>
              <a:defRPr sz="2400" b="1">
                <a:solidFill>
                  <a:srgbClr val="F8FAFC"/>
                </a:solidFill>
                <a:latin typeface="Segoe UI"/>
              </a:defRPr>
            </a:pPr>
            <a:r>
              <a:t>Differentiated vs. Naive Baseline Comparison</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300">
                <a:solidFill>
                  <a:srgbClr val="94A3B8"/>
                </a:solidFill>
                <a:latin typeface="Segoe UI"/>
              </a:defRPr>
            </a:pPr>
            <a:r>
              <a:t>Controlled benchmark demonstrating how generic reactive rules cause severe collateral damage.</a:t>
            </a:r>
          </a:p>
        </p:txBody>
      </p:sp>
      <p:graphicFrame>
        <p:nvGraphicFramePr>
          <p:cNvPr id="6" name="Table 5"/>
          <p:cNvGraphicFramePr>
            <a:graphicFrameLocks noGrp="1"/>
          </p:cNvGraphicFramePr>
          <p:nvPr/>
        </p:nvGraphicFramePr>
        <p:xfrm>
          <a:off x="731520" y="1920240"/>
          <a:ext cx="10698480" cy="4297680"/>
        </p:xfrm>
        <a:graphic>
          <a:graphicData uri="http://schemas.openxmlformats.org/drawingml/2006/table">
            <a:tbl>
              <a:tblPr firstRow="1" bandRow="1">
                <a:tableStyleId>{5C22544A-7EE6-4342-B048-85BDC9FD1C3A}</a:tableStyleId>
              </a:tblPr>
              <a:tblGrid>
                <a:gridCol w="2011680"/>
                <a:gridCol w="2834640"/>
                <a:gridCol w="2926080"/>
                <a:gridCol w="2926080"/>
              </a:tblGrid>
              <a:tr h="859536">
                <a:tc>
                  <a:txBody>
                    <a:bodyPr/>
                    <a:lstStyle/>
                    <a:p>
                      <a:pPr>
                        <a:defRPr sz="1100" b="1">
                          <a:solidFill>
                            <a:srgbClr val="38BDF8"/>
                          </a:solidFill>
                          <a:latin typeface="Segoe UI"/>
                        </a:defRPr>
                      </a:pPr>
                      <a:r>
                        <a:t>Scenario</a:t>
                      </a:r>
                    </a:p>
                  </a:txBody>
                  <a:tcPr>
                    <a:solidFill>
                      <a:srgbClr val="334155"/>
                    </a:solidFill>
                  </a:tcPr>
                </a:tc>
                <a:tc>
                  <a:txBody>
                    <a:bodyPr/>
                    <a:lstStyle/>
                    <a:p>
                      <a:pPr>
                        <a:defRPr sz="1100" b="1">
                          <a:solidFill>
                            <a:srgbClr val="38BDF8"/>
                          </a:solidFill>
                          <a:latin typeface="Segoe UI"/>
                        </a:defRPr>
                      </a:pPr>
                      <a:r>
                        <a:t>Naive Baseline System</a:t>
                      </a:r>
                    </a:p>
                  </a:txBody>
                  <a:tcPr>
                    <a:solidFill>
                      <a:srgbClr val="334155"/>
                    </a:solidFill>
                  </a:tcPr>
                </a:tc>
                <a:tc>
                  <a:txBody>
                    <a:bodyPr/>
                    <a:lstStyle/>
                    <a:p>
                      <a:pPr>
                        <a:defRPr sz="1100" b="1">
                          <a:solidFill>
                            <a:srgbClr val="38BDF8"/>
                          </a:solidFill>
                          <a:latin typeface="Segoe UI"/>
                        </a:defRPr>
                      </a:pPr>
                      <a:r>
                        <a:t>Context-Aware SDN (Ours)</a:t>
                      </a:r>
                    </a:p>
                  </a:txBody>
                  <a:tcPr>
                    <a:solidFill>
                      <a:srgbClr val="334155"/>
                    </a:solidFill>
                  </a:tcPr>
                </a:tc>
                <a:tc>
                  <a:txBody>
                    <a:bodyPr/>
                    <a:lstStyle/>
                    <a:p>
                      <a:pPr>
                        <a:defRPr sz="1100" b="1">
                          <a:solidFill>
                            <a:srgbClr val="38BDF8"/>
                          </a:solidFill>
                          <a:latin typeface="Segoe UI"/>
                        </a:defRPr>
                      </a:pPr>
                      <a:r>
                        <a:t>Impact &amp; Improvement</a:t>
                      </a:r>
                    </a:p>
                  </a:txBody>
                  <a:tcPr>
                    <a:solidFill>
                      <a:srgbClr val="334155"/>
                    </a:solidFill>
                  </a:tcPr>
                </a:tc>
              </a:tr>
              <a:tr h="859536">
                <a:tc>
                  <a:txBody>
                    <a:bodyPr/>
                    <a:lstStyle/>
                    <a:p>
                      <a:pPr>
                        <a:defRPr sz="1000" b="1">
                          <a:solidFill>
                            <a:srgbClr val="10B981"/>
                          </a:solidFill>
                          <a:latin typeface="Segoe UI"/>
                        </a:defRPr>
                      </a:pPr>
                      <a:r>
                        <a:t>Flash-Crowd Surge</a:t>
                      </a:r>
                    </a:p>
                  </a:txBody>
                  <a:tcPr>
                    <a:solidFill>
                      <a:srgbClr val="1E293B"/>
                    </a:solidFill>
                  </a:tcPr>
                </a:tc>
                <a:tc>
                  <a:txBody>
                    <a:bodyPr/>
                    <a:lstStyle/>
                    <a:p>
                      <a:pPr>
                        <a:defRPr sz="1000">
                          <a:solidFill>
                            <a:srgbClr val="F8FAFC"/>
                          </a:solidFill>
                          <a:latin typeface="Segoe UI"/>
                        </a:defRPr>
                      </a:pPr>
                      <a:r>
                        <a:t>Blind rate-limiting: drops 65% of legitimate user requests.</a:t>
                      </a:r>
                    </a:p>
                  </a:txBody>
                  <a:tcPr>
                    <a:solidFill>
                      <a:srgbClr val="1E293B"/>
                    </a:solidFill>
                  </a:tcPr>
                </a:tc>
                <a:tc>
                  <a:txBody>
                    <a:bodyPr/>
                    <a:lstStyle/>
                    <a:p>
                      <a:pPr>
                        <a:defRPr sz="1000">
                          <a:solidFill>
                            <a:srgbClr val="F8FAFC"/>
                          </a:solidFill>
                          <a:latin typeface="Segoe UI"/>
                        </a:defRPr>
                      </a:pPr>
                      <a:r>
                        <a:t>Multi-path load balancing: splits traffic across Path A &amp; B.</a:t>
                      </a:r>
                    </a:p>
                  </a:txBody>
                  <a:tcPr>
                    <a:solidFill>
                      <a:srgbClr val="1E293B"/>
                    </a:solidFill>
                  </a:tcPr>
                </a:tc>
                <a:tc>
                  <a:txBody>
                    <a:bodyPr/>
                    <a:lstStyle/>
                    <a:p>
                      <a:pPr>
                        <a:defRPr sz="1000" b="1">
                          <a:solidFill>
                            <a:srgbClr val="38BDF8"/>
                          </a:solidFill>
                          <a:latin typeface="Segoe UI"/>
                        </a:defRPr>
                      </a:pPr>
                      <a:r>
                        <a:t>0% legitimate drop; 2.1x goodput preservation.</a:t>
                      </a:r>
                    </a:p>
                  </a:txBody>
                  <a:tcPr>
                    <a:solidFill>
                      <a:srgbClr val="1E293B"/>
                    </a:solidFill>
                  </a:tcPr>
                </a:tc>
              </a:tr>
              <a:tr h="859536">
                <a:tc>
                  <a:txBody>
                    <a:bodyPr/>
                    <a:lstStyle/>
                    <a:p>
                      <a:pPr>
                        <a:defRPr sz="1000" b="1">
                          <a:solidFill>
                            <a:srgbClr val="EF4444"/>
                          </a:solidFill>
                          <a:latin typeface="Segoe UI"/>
                        </a:defRPr>
                      </a:pPr>
                      <a:r>
                        <a:t>DDoS Attack</a:t>
                      </a:r>
                    </a:p>
                  </a:txBody>
                  <a:tcPr>
                    <a:solidFill>
                      <a:srgbClr val="18212F"/>
                    </a:solidFill>
                  </a:tcPr>
                </a:tc>
                <a:tc>
                  <a:txBody>
                    <a:bodyPr/>
                    <a:lstStyle/>
                    <a:p>
                      <a:pPr>
                        <a:defRPr sz="1000">
                          <a:solidFill>
                            <a:srgbClr val="F8FAFC"/>
                          </a:solidFill>
                          <a:latin typeface="Segoe UI"/>
                        </a:defRPr>
                      </a:pPr>
                      <a:r>
                        <a:t>Reroutes entire aggregate traffic to Path B (poisons backup link).</a:t>
                      </a:r>
                    </a:p>
                  </a:txBody>
                  <a:tcPr>
                    <a:solidFill>
                      <a:srgbClr val="18212F"/>
                    </a:solidFill>
                  </a:tcPr>
                </a:tc>
                <a:tc>
                  <a:txBody>
                    <a:bodyPr/>
                    <a:lstStyle/>
                    <a:p>
                      <a:pPr>
                        <a:defRPr sz="1000">
                          <a:solidFill>
                            <a:srgbClr val="F8FAFC"/>
                          </a:solidFill>
                          <a:latin typeface="Segoe UI"/>
                        </a:defRPr>
                      </a:pPr>
                      <a:r>
                        <a:t>Surgical ingress rate-limit on spoofed flows; clean traffic stays live.</a:t>
                      </a:r>
                    </a:p>
                  </a:txBody>
                  <a:tcPr>
                    <a:solidFill>
                      <a:srgbClr val="18212F"/>
                    </a:solidFill>
                  </a:tcPr>
                </a:tc>
                <a:tc>
                  <a:txBody>
                    <a:bodyPr/>
                    <a:lstStyle/>
                    <a:p>
                      <a:pPr>
                        <a:defRPr sz="1000" b="1">
                          <a:solidFill>
                            <a:srgbClr val="38BDF8"/>
                          </a:solidFill>
                          <a:latin typeface="Segoe UI"/>
                        </a:defRPr>
                      </a:pPr>
                      <a:r>
                        <a:t>Attack neutralized at ingress; backup path kept healthy.</a:t>
                      </a:r>
                    </a:p>
                  </a:txBody>
                  <a:tcPr>
                    <a:solidFill>
                      <a:srgbClr val="18212F"/>
                    </a:solidFill>
                  </a:tcPr>
                </a:tc>
              </a:tr>
              <a:tr h="859536">
                <a:tc>
                  <a:txBody>
                    <a:bodyPr/>
                    <a:lstStyle/>
                    <a:p>
                      <a:pPr>
                        <a:defRPr sz="1000" b="1">
                          <a:solidFill>
                            <a:srgbClr val="F59E0B"/>
                          </a:solidFill>
                          <a:latin typeface="Segoe UI"/>
                        </a:defRPr>
                      </a:pPr>
                      <a:r>
                        <a:t>Slow Congestion</a:t>
                      </a:r>
                    </a:p>
                  </a:txBody>
                  <a:tcPr>
                    <a:solidFill>
                      <a:srgbClr val="1E293B"/>
                    </a:solidFill>
                  </a:tcPr>
                </a:tc>
                <a:tc>
                  <a:txBody>
                    <a:bodyPr/>
                    <a:lstStyle/>
                    <a:p>
                      <a:pPr>
                        <a:defRPr sz="1000">
                          <a:solidFill>
                            <a:srgbClr val="F8FAFC"/>
                          </a:solidFill>
                          <a:latin typeface="Segoe UI"/>
                        </a:defRPr>
                      </a:pPr>
                      <a:r>
                        <a:t>Waits for queue overflow / buffer drop before reacting.</a:t>
                      </a:r>
                    </a:p>
                  </a:txBody>
                  <a:tcPr>
                    <a:solidFill>
                      <a:srgbClr val="1E293B"/>
                    </a:solidFill>
                  </a:tcPr>
                </a:tc>
                <a:tc>
                  <a:txBody>
                    <a:bodyPr/>
                    <a:lstStyle/>
                    <a:p>
                      <a:pPr>
                        <a:defRPr sz="1000">
                          <a:solidFill>
                            <a:srgbClr val="F8FAFC"/>
                          </a:solidFill>
                          <a:latin typeface="Segoe UI"/>
                        </a:defRPr>
                      </a:pPr>
                      <a:r>
                        <a:t>Predictive early reroute before buffer exhaustion.</a:t>
                      </a:r>
                    </a:p>
                  </a:txBody>
                  <a:tcPr>
                    <a:solidFill>
                      <a:srgbClr val="1E293B"/>
                    </a:solidFill>
                  </a:tcPr>
                </a:tc>
                <a:tc>
                  <a:txBody>
                    <a:bodyPr/>
                    <a:lstStyle/>
                    <a:p>
                      <a:pPr>
                        <a:defRPr sz="1000" b="1">
                          <a:solidFill>
                            <a:srgbClr val="38BDF8"/>
                          </a:solidFill>
                          <a:latin typeface="Segoe UI"/>
                        </a:defRPr>
                      </a:pPr>
                      <a:r>
                        <a:t>Zero queue loss; smooth latency degradation curve.</a:t>
                      </a:r>
                    </a:p>
                  </a:txBody>
                  <a:tcPr>
                    <a:solidFill>
                      <a:srgbClr val="1E293B"/>
                    </a:solidFill>
                  </a:tcPr>
                </a:tc>
              </a:tr>
              <a:tr h="859536">
                <a:tc>
                  <a:txBody>
                    <a:bodyPr/>
                    <a:lstStyle/>
                    <a:p>
                      <a:pPr>
                        <a:defRPr sz="1000" b="1">
                          <a:solidFill>
                            <a:srgbClr val="A855F7"/>
                          </a:solidFill>
                          <a:latin typeface="Segoe UI"/>
                        </a:defRPr>
                      </a:pPr>
                      <a:r>
                        <a:t>Link Failure</a:t>
                      </a:r>
                    </a:p>
                  </a:txBody>
                  <a:tcPr>
                    <a:solidFill>
                      <a:srgbClr val="18212F"/>
                    </a:solidFill>
                  </a:tcPr>
                </a:tc>
                <a:tc>
                  <a:txBody>
                    <a:bodyPr/>
                    <a:lstStyle/>
                    <a:p>
                      <a:pPr>
                        <a:defRPr sz="1000">
                          <a:solidFill>
                            <a:srgbClr val="F8FAFC"/>
                          </a:solidFill>
                          <a:latin typeface="Segoe UI"/>
                        </a:defRPr>
                      </a:pPr>
                      <a:r>
                        <a:t>Relies on standard periodic timeout (3-10 second disruption).</a:t>
                      </a:r>
                    </a:p>
                  </a:txBody>
                  <a:tcPr>
                    <a:solidFill>
                      <a:srgbClr val="18212F"/>
                    </a:solidFill>
                  </a:tcPr>
                </a:tc>
                <a:tc>
                  <a:txBody>
                    <a:bodyPr/>
                    <a:lstStyle/>
                    <a:p>
                      <a:pPr>
                        <a:defRPr sz="1000">
                          <a:solidFill>
                            <a:srgbClr val="F8FAFC"/>
                          </a:solidFill>
                          <a:latin typeface="Segoe UI"/>
                        </a:defRPr>
                      </a:pPr>
                      <a:r>
                        <a:t>Event-driven OpenFlow failover trigger (&lt;50ms).</a:t>
                      </a:r>
                    </a:p>
                  </a:txBody>
                  <a:tcPr>
                    <a:solidFill>
                      <a:srgbClr val="18212F"/>
                    </a:solidFill>
                  </a:tcPr>
                </a:tc>
                <a:tc>
                  <a:txBody>
                    <a:bodyPr/>
                    <a:lstStyle/>
                    <a:p>
                      <a:pPr>
                        <a:defRPr sz="1000" b="1">
                          <a:solidFill>
                            <a:srgbClr val="38BDF8"/>
                          </a:solidFill>
                          <a:latin typeface="Segoe UI"/>
                        </a:defRPr>
                      </a:pPr>
                      <a:r>
                        <a:t>Sub-second recovery; zero TCP disconnects.</a:t>
                      </a:r>
                    </a:p>
                  </a:txBody>
                  <a:tcPr>
                    <a:solidFill>
                      <a:srgbClr val="18212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square" lIns="0" tIns="0" rIns="0" bIns="0">
            <a:spAutoFit/>
          </a:bodyPr>
          <a:lstStyle/>
          <a:p>
            <a:pPr>
              <a:defRPr sz="1050" b="1">
                <a:solidFill>
                  <a:srgbClr val="38BDF8"/>
                </a:solidFill>
                <a:latin typeface="Segoe UI"/>
              </a:defRPr>
            </a:pPr>
            <a:r>
              <a:t>MONITORING &amp; VISUALIZATION</a:t>
            </a:r>
          </a:p>
        </p:txBody>
      </p:sp>
      <p:sp>
        <p:nvSpPr>
          <p:cNvPr id="4" name="TextBox 3"/>
          <p:cNvSpPr txBox="1"/>
          <p:nvPr/>
        </p:nvSpPr>
        <p:spPr>
          <a:xfrm>
            <a:off x="731520" y="777240"/>
            <a:ext cx="10698480" cy="594360"/>
          </a:xfrm>
          <a:prstGeom prst="rect">
            <a:avLst/>
          </a:prstGeom>
          <a:noFill/>
        </p:spPr>
        <p:txBody>
          <a:bodyPr wrap="square" lIns="0" tIns="0" rIns="0" bIns="0">
            <a:spAutoFit/>
          </a:bodyPr>
          <a:lstStyle/>
          <a:p>
            <a:pPr>
              <a:defRPr sz="2400" b="1">
                <a:solidFill>
                  <a:srgbClr val="F8FAFC"/>
                </a:solidFill>
                <a:latin typeface="Segoe UI"/>
              </a:defRPr>
            </a:pPr>
            <a:r>
              <a:t>Real-Time Interactive Dashboard &amp; Telemetry UI</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300">
                <a:solidFill>
                  <a:srgbClr val="94A3B8"/>
                </a:solidFill>
                <a:latin typeface="Segoe UI"/>
              </a:defRPr>
            </a:pPr>
            <a:r>
              <a:t>Web-based operational visualizer integrating D3.js topology graphics and live OpenFlow statistics.</a:t>
            </a:r>
          </a:p>
        </p:txBody>
      </p:sp>
      <p:sp>
        <p:nvSpPr>
          <p:cNvPr id="6" name="Rounded Rectangle 5"/>
          <p:cNvSpPr/>
          <p:nvPr/>
        </p:nvSpPr>
        <p:spPr>
          <a:xfrm>
            <a:off x="731520" y="1920240"/>
            <a:ext cx="5212080" cy="4297680"/>
          </a:xfrm>
          <a:prstGeom prst="roundRect">
            <a:avLst/>
          </a:prstGeom>
          <a:solidFill>
            <a:srgbClr val="1E293B"/>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4663440" cy="3931920"/>
          </a:xfrm>
          <a:prstGeom prst="rect">
            <a:avLst/>
          </a:prstGeom>
          <a:noFill/>
        </p:spPr>
        <p:txBody>
          <a:bodyPr wrap="square">
            <a:spAutoFit/>
          </a:bodyPr>
          <a:lstStyle/>
          <a:p>
            <a:pPr>
              <a:spcAft>
                <a:spcPts val="1200"/>
              </a:spcAft>
              <a:defRPr sz="1700" b="1">
                <a:solidFill>
                  <a:srgbClr val="38BDF8"/>
                </a:solidFill>
                <a:latin typeface="Segoe UI"/>
              </a:defRPr>
            </a:pPr>
            <a:r>
              <a:t>D3.js Live Topology Visualizer</a:t>
            </a:r>
          </a:p>
          <a:p>
            <a:pPr>
              <a:spcAft>
                <a:spcPts val="800"/>
              </a:spcAft>
              <a:defRPr sz="1150">
                <a:solidFill>
                  <a:srgbClr val="F8FAFC"/>
                </a:solidFill>
                <a:latin typeface="Segoe UI"/>
              </a:defRPr>
            </a:pPr>
            <a:r>
              <a:t>• Force-Directed 2D Graph: Dynamically polls Ryu REST API (/v1.0/topology/switches and /links) to render live switches and host nodes in real time.</a:t>
            </a:r>
          </a:p>
          <a:p>
            <a:pPr>
              <a:spcAft>
                <a:spcPts val="800"/>
              </a:spcAft>
              <a:defRPr sz="1150">
                <a:solidFill>
                  <a:srgbClr val="F8FAFC"/>
                </a:solidFill>
                <a:latin typeface="Segoe UI"/>
              </a:defRPr>
            </a:pPr>
            <a:r>
              <a:t>• Real-Time Link State Animation: Animated link stroke effects visualize active forwarding paths (Path A vs. Path B) and highlight saturated or broken links.</a:t>
            </a:r>
          </a:p>
          <a:p>
            <a:pPr>
              <a:spcAft>
                <a:spcPts val="800"/>
              </a:spcAft>
              <a:defRPr sz="1150">
                <a:solidFill>
                  <a:srgbClr val="F8FAFC"/>
                </a:solidFill>
                <a:latin typeface="Segoe UI"/>
              </a:defRPr>
            </a:pPr>
            <a:r>
              <a:t>• Interactive Node Inspection: Clicking any switch displays DPID, connected ports, active flow counts, and instantaneous byte/packet rates.</a:t>
            </a:r>
          </a:p>
          <a:p>
            <a:pPr>
              <a:spcAft>
                <a:spcPts val="800"/>
              </a:spcAft>
              <a:defRPr sz="1150">
                <a:solidFill>
                  <a:srgbClr val="F8FAFC"/>
                </a:solidFill>
                <a:latin typeface="Segoe UI"/>
              </a:defRPr>
            </a:pPr>
            <a:r>
              <a:t>• Visual Status Indicators: Color-coded switch icons (Green=Healthy, Amber=Congested, Red=Attacked/Failed) give immediate operator clarity.</a:t>
            </a:r>
          </a:p>
        </p:txBody>
      </p:sp>
      <p:sp>
        <p:nvSpPr>
          <p:cNvPr id="8" name="Rounded Rectangle 7"/>
          <p:cNvSpPr/>
          <p:nvPr/>
        </p:nvSpPr>
        <p:spPr>
          <a:xfrm>
            <a:off x="6217920" y="1920240"/>
            <a:ext cx="5212080" cy="429768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03120"/>
            <a:ext cx="4663440" cy="3931920"/>
          </a:xfrm>
          <a:prstGeom prst="rect">
            <a:avLst/>
          </a:prstGeom>
          <a:noFill/>
        </p:spPr>
        <p:txBody>
          <a:bodyPr wrap="square">
            <a:spAutoFit/>
          </a:bodyPr>
          <a:lstStyle/>
          <a:p>
            <a:pPr>
              <a:spcAft>
                <a:spcPts val="1200"/>
              </a:spcAft>
              <a:defRPr sz="1700" b="1">
                <a:solidFill>
                  <a:srgbClr val="F59E0B"/>
                </a:solidFill>
                <a:latin typeface="Segoe UI"/>
              </a:defRPr>
            </a:pPr>
            <a:r>
              <a:t>Remediation Feed &amp; Incident Stream</a:t>
            </a:r>
          </a:p>
          <a:p>
            <a:pPr>
              <a:spcAft>
                <a:spcPts val="800"/>
              </a:spcAft>
              <a:defRPr sz="1150">
                <a:solidFill>
                  <a:srgbClr val="F8FAFC"/>
                </a:solidFill>
                <a:latin typeface="Segoe UI"/>
              </a:defRPr>
            </a:pPr>
            <a:r>
              <a:t>✔ Anomaly Event Stream: Live notification banner publishing detected anomaly classes, model classification confidence, and timestamped triggers.</a:t>
            </a:r>
          </a:p>
          <a:p>
            <a:pPr>
              <a:spcAft>
                <a:spcPts val="800"/>
              </a:spcAft>
              <a:defRPr sz="1150">
                <a:solidFill>
                  <a:srgbClr val="F8FAFC"/>
                </a:solidFill>
                <a:latin typeface="Segoe UI"/>
              </a:defRPr>
            </a:pPr>
            <a:r>
              <a:t>✔ Automated Action Log: Verifies concrete OpenFlow flow-mod commands deployed (e.g., 'Installed Group Table ID: 10 on s1 for Path A/B split').</a:t>
            </a:r>
          </a:p>
          <a:p>
            <a:pPr>
              <a:spcAft>
                <a:spcPts val="800"/>
              </a:spcAft>
              <a:defRPr sz="1150">
                <a:solidFill>
                  <a:srgbClr val="F8FAFC"/>
                </a:solidFill>
                <a:latin typeface="Segoe UI"/>
              </a:defRPr>
            </a:pPr>
            <a:r>
              <a:t>✔ Throughput &amp; Packet Rate Gauges: Real-time rolling charts visualizing incoming ingress traffic vs. successfully delivered egress throughput.</a:t>
            </a:r>
          </a:p>
          <a:p>
            <a:pPr>
              <a:spcAft>
                <a:spcPts val="800"/>
              </a:spcAft>
              <a:defRPr sz="1150">
                <a:solidFill>
                  <a:srgbClr val="F8FAFC"/>
                </a:solidFill>
                <a:latin typeface="Segoe UI"/>
              </a:defRPr>
            </a:pPr>
            <a:r>
              <a:t>✔ Operator Override Console: Enables network administrators to inspect autonomic policy execution or manually toggle fallback routing.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square" lIns="0" tIns="0" rIns="0" bIns="0">
            <a:spAutoFit/>
          </a:bodyPr>
          <a:lstStyle/>
          <a:p>
            <a:pPr>
              <a:defRPr sz="1050" b="1">
                <a:solidFill>
                  <a:srgbClr val="38BDF8"/>
                </a:solidFill>
                <a:latin typeface="Segoe UI"/>
              </a:defRPr>
            </a:pPr>
            <a:r>
              <a:t>PROJECT ROADMAP</a:t>
            </a:r>
          </a:p>
        </p:txBody>
      </p:sp>
      <p:sp>
        <p:nvSpPr>
          <p:cNvPr id="4" name="TextBox 3"/>
          <p:cNvSpPr txBox="1"/>
          <p:nvPr/>
        </p:nvSpPr>
        <p:spPr>
          <a:xfrm>
            <a:off x="731520" y="777240"/>
            <a:ext cx="10698480" cy="594360"/>
          </a:xfrm>
          <a:prstGeom prst="rect">
            <a:avLst/>
          </a:prstGeom>
          <a:noFill/>
        </p:spPr>
        <p:txBody>
          <a:bodyPr wrap="square" lIns="0" tIns="0" rIns="0" bIns="0">
            <a:spAutoFit/>
          </a:bodyPr>
          <a:lstStyle/>
          <a:p>
            <a:pPr>
              <a:defRPr sz="2400" b="1">
                <a:solidFill>
                  <a:srgbClr val="F8FAFC"/>
                </a:solidFill>
                <a:latin typeface="Segoe UI"/>
              </a:defRPr>
            </a:pPr>
            <a:r>
              <a:t>Implementation Pipeline &amp; Phased Progress</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300">
                <a:solidFill>
                  <a:srgbClr val="94A3B8"/>
                </a:solidFill>
                <a:latin typeface="Segoe UI"/>
              </a:defRPr>
            </a:pPr>
            <a:r>
              <a:t>Systematic development and verification workflow spanning infrastructure to AI deployment.</a:t>
            </a:r>
          </a:p>
        </p:txBody>
      </p:sp>
      <p:sp>
        <p:nvSpPr>
          <p:cNvPr id="6" name="Rounded Rectangle 5"/>
          <p:cNvSpPr/>
          <p:nvPr/>
        </p:nvSpPr>
        <p:spPr>
          <a:xfrm>
            <a:off x="731520" y="1920240"/>
            <a:ext cx="3474720" cy="201168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29968"/>
            <a:ext cx="3200400" cy="1737360"/>
          </a:xfrm>
          <a:prstGeom prst="rect">
            <a:avLst/>
          </a:prstGeom>
          <a:noFill/>
        </p:spPr>
        <p:txBody>
          <a:bodyPr wrap="square">
            <a:spAutoFit/>
          </a:bodyPr>
          <a:lstStyle/>
          <a:p>
            <a:pPr>
              <a:spcAft>
                <a:spcPts val="200"/>
              </a:spcAft>
              <a:defRPr sz="1200" b="1">
                <a:solidFill>
                  <a:srgbClr val="10B981"/>
                </a:solidFill>
                <a:latin typeface="Segoe UI"/>
              </a:defRPr>
            </a:pPr>
            <a:r>
              <a:t>Phase 0: Environment Setup</a:t>
            </a:r>
          </a:p>
          <a:p>
            <a:pPr>
              <a:spcAft>
                <a:spcPts val="400"/>
              </a:spcAft>
              <a:defRPr sz="1000" b="1">
                <a:solidFill>
                  <a:srgbClr val="94A3B8"/>
                </a:solidFill>
                <a:latin typeface="Segoe UI"/>
              </a:defRPr>
            </a:pPr>
            <a:r>
              <a:t>Status: [COMPLETE]</a:t>
            </a:r>
          </a:p>
          <a:p>
            <a:pPr>
              <a:defRPr sz="1000">
                <a:solidFill>
                  <a:srgbClr val="F8FAFC"/>
                </a:solidFill>
                <a:latin typeface="Segoe UI"/>
              </a:defRPr>
            </a:pPr>
            <a:r>
              <a:t>• Ubuntu 26.04 LTS VM on VirtualBox</a:t>
            </a:r>
          </a:p>
          <a:p>
            <a:pPr>
              <a:defRPr sz="1000">
                <a:solidFill>
                  <a:srgbClr val="F8FAFC"/>
                </a:solidFill>
                <a:latin typeface="Segoe UI"/>
              </a:defRPr>
            </a:pPr>
            <a:r>
              <a:t>• Mininet 2.3+ with Open vSwitch</a:t>
            </a:r>
          </a:p>
          <a:p>
            <a:pPr>
              <a:defRPr sz="1000">
                <a:solidFill>
                  <a:srgbClr val="F8FAFC"/>
                </a:solidFill>
                <a:latin typeface="Segoe UI"/>
              </a:defRPr>
            </a:pPr>
            <a:r>
              <a:t>• Ryu 4.34 on Python 3.8 venv</a:t>
            </a:r>
          </a:p>
          <a:p>
            <a:pPr>
              <a:defRPr sz="1000">
                <a:solidFill>
                  <a:srgbClr val="F8FAFC"/>
                </a:solidFill>
                <a:latin typeface="Segoe UI"/>
              </a:defRPr>
            </a:pPr>
            <a:r>
              <a:t>• Verified end-to-end pingall (0% drop)</a:t>
            </a:r>
          </a:p>
        </p:txBody>
      </p:sp>
      <p:sp>
        <p:nvSpPr>
          <p:cNvPr id="8" name="Rounded Rectangle 7"/>
          <p:cNvSpPr/>
          <p:nvPr/>
        </p:nvSpPr>
        <p:spPr>
          <a:xfrm>
            <a:off x="4343400" y="1920240"/>
            <a:ext cx="3474720" cy="201168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2029968"/>
            <a:ext cx="3200400" cy="1737360"/>
          </a:xfrm>
          <a:prstGeom prst="rect">
            <a:avLst/>
          </a:prstGeom>
          <a:noFill/>
        </p:spPr>
        <p:txBody>
          <a:bodyPr wrap="square">
            <a:spAutoFit/>
          </a:bodyPr>
          <a:lstStyle/>
          <a:p>
            <a:pPr>
              <a:spcAft>
                <a:spcPts val="200"/>
              </a:spcAft>
              <a:defRPr sz="1200" b="1">
                <a:solidFill>
                  <a:srgbClr val="10B981"/>
                </a:solidFill>
                <a:latin typeface="Segoe UI"/>
              </a:defRPr>
            </a:pPr>
            <a:r>
              <a:t>Phase 1: Multi-Path Topology</a:t>
            </a:r>
          </a:p>
          <a:p>
            <a:pPr>
              <a:spcAft>
                <a:spcPts val="400"/>
              </a:spcAft>
              <a:defRPr sz="1000" b="1">
                <a:solidFill>
                  <a:srgbClr val="94A3B8"/>
                </a:solidFill>
                <a:latin typeface="Segoe UI"/>
              </a:defRPr>
            </a:pPr>
            <a:r>
              <a:t>Status: [COMPLETE]</a:t>
            </a:r>
          </a:p>
          <a:p>
            <a:pPr>
              <a:defRPr sz="1000">
                <a:solidFill>
                  <a:srgbClr val="F8FAFC"/>
                </a:solidFill>
                <a:latin typeface="Segoe UI"/>
              </a:defRPr>
            </a:pPr>
            <a:r>
              <a:t>• Custom topo_multi_path.py script</a:t>
            </a:r>
          </a:p>
          <a:p>
            <a:pPr>
              <a:defRPr sz="1000">
                <a:solidFill>
                  <a:srgbClr val="F8FAFC"/>
                </a:solidFill>
                <a:latin typeface="Segoe UI"/>
              </a:defRPr>
            </a:pPr>
            <a:r>
              <a:t>• 4 OpenFlow 1.3 switches, 6 hosts</a:t>
            </a:r>
          </a:p>
          <a:p>
            <a:pPr>
              <a:defRPr sz="1000">
                <a:solidFill>
                  <a:srgbClr val="F8FAFC"/>
                </a:solidFill>
                <a:latin typeface="Segoe UI"/>
              </a:defRPr>
            </a:pPr>
            <a:r>
              <a:t>• Dual core paths (10 Mbps bottleneck)</a:t>
            </a:r>
          </a:p>
          <a:p>
            <a:pPr>
              <a:defRPr sz="1000">
                <a:solidFill>
                  <a:srgbClr val="F8FAFC"/>
                </a:solidFill>
                <a:latin typeface="Segoe UI"/>
              </a:defRPr>
            </a:pPr>
            <a:r>
              <a:t>• D3.js topology visualization GUI</a:t>
            </a:r>
          </a:p>
        </p:txBody>
      </p:sp>
      <p:sp>
        <p:nvSpPr>
          <p:cNvPr id="10" name="Rounded Rectangle 9"/>
          <p:cNvSpPr/>
          <p:nvPr/>
        </p:nvSpPr>
        <p:spPr>
          <a:xfrm>
            <a:off x="7955280" y="1920240"/>
            <a:ext cx="3474720" cy="201168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2029968"/>
            <a:ext cx="3200400" cy="1737360"/>
          </a:xfrm>
          <a:prstGeom prst="rect">
            <a:avLst/>
          </a:prstGeom>
          <a:noFill/>
        </p:spPr>
        <p:txBody>
          <a:bodyPr wrap="square">
            <a:spAutoFit/>
          </a:bodyPr>
          <a:lstStyle/>
          <a:p>
            <a:pPr>
              <a:spcAft>
                <a:spcPts val="200"/>
              </a:spcAft>
              <a:defRPr sz="1200" b="1">
                <a:solidFill>
                  <a:srgbClr val="10B981"/>
                </a:solidFill>
                <a:latin typeface="Segoe UI"/>
              </a:defRPr>
            </a:pPr>
            <a:r>
              <a:t>Phase 2: Traffic Simulation</a:t>
            </a:r>
          </a:p>
          <a:p>
            <a:pPr>
              <a:spcAft>
                <a:spcPts val="400"/>
              </a:spcAft>
              <a:defRPr sz="1000" b="1">
                <a:solidFill>
                  <a:srgbClr val="94A3B8"/>
                </a:solidFill>
                <a:latin typeface="Segoe UI"/>
              </a:defRPr>
            </a:pPr>
            <a:r>
              <a:t>Status: [COMPLETE]</a:t>
            </a:r>
          </a:p>
          <a:p>
            <a:pPr>
              <a:defRPr sz="1000">
                <a:solidFill>
                  <a:srgbClr val="F8FAFC"/>
                </a:solidFill>
                <a:latin typeface="Segoe UI"/>
              </a:defRPr>
            </a:pPr>
            <a:r>
              <a:t>• normal: iperf3 baseline browsing</a:t>
            </a:r>
          </a:p>
          <a:p>
            <a:pPr>
              <a:defRPr sz="1000">
                <a:solidFill>
                  <a:srgbClr val="F8FAFC"/>
                </a:solidFill>
                <a:latin typeface="Segoe UI"/>
              </a:defRPr>
            </a:pPr>
            <a:r>
              <a:t>• flash_crowd: multi-client burst</a:t>
            </a:r>
          </a:p>
          <a:p>
            <a:pPr>
              <a:defRPr sz="1000">
                <a:solidFill>
                  <a:srgbClr val="F8FAFC"/>
                </a:solidFill>
                <a:latin typeface="Segoe UI"/>
              </a:defRPr>
            </a:pPr>
            <a:r>
              <a:t>• ddos: Scapy SYN/UDP flood</a:t>
            </a:r>
          </a:p>
          <a:p>
            <a:pPr>
              <a:defRPr sz="1000">
                <a:solidFill>
                  <a:srgbClr val="F8FAFC"/>
                </a:solidFill>
                <a:latin typeface="Segoe UI"/>
              </a:defRPr>
            </a:pPr>
            <a:r>
              <a:t>• congestion: tc bandwidth throttling</a:t>
            </a:r>
          </a:p>
          <a:p>
            <a:pPr>
              <a:defRPr sz="1000">
                <a:solidFill>
                  <a:srgbClr val="F8FAFC"/>
                </a:solidFill>
                <a:latin typeface="Segoe UI"/>
              </a:defRPr>
            </a:pPr>
            <a:r>
              <a:t>• link_failure: dynamic link toggling</a:t>
            </a:r>
          </a:p>
        </p:txBody>
      </p:sp>
      <p:sp>
        <p:nvSpPr>
          <p:cNvPr id="12" name="Rounded Rectangle 11"/>
          <p:cNvSpPr/>
          <p:nvPr/>
        </p:nvSpPr>
        <p:spPr>
          <a:xfrm>
            <a:off x="731520" y="4114800"/>
            <a:ext cx="3474720" cy="201168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224528"/>
            <a:ext cx="3200400" cy="1737360"/>
          </a:xfrm>
          <a:prstGeom prst="rect">
            <a:avLst/>
          </a:prstGeom>
          <a:noFill/>
        </p:spPr>
        <p:txBody>
          <a:bodyPr wrap="square">
            <a:spAutoFit/>
          </a:bodyPr>
          <a:lstStyle/>
          <a:p>
            <a:pPr>
              <a:spcAft>
                <a:spcPts val="200"/>
              </a:spcAft>
              <a:defRPr sz="1200" b="1">
                <a:solidFill>
                  <a:srgbClr val="10B981"/>
                </a:solidFill>
                <a:latin typeface="Segoe UI"/>
              </a:defRPr>
            </a:pPr>
            <a:r>
              <a:t>Phase 3 &amp; 4: Telemetry &amp; Dataset</a:t>
            </a:r>
          </a:p>
          <a:p>
            <a:pPr>
              <a:spcAft>
                <a:spcPts val="400"/>
              </a:spcAft>
              <a:defRPr sz="1000" b="1">
                <a:solidFill>
                  <a:srgbClr val="94A3B8"/>
                </a:solidFill>
                <a:latin typeface="Segoe UI"/>
              </a:defRPr>
            </a:pPr>
            <a:r>
              <a:t>Status: [COMPLETE]</a:t>
            </a:r>
          </a:p>
          <a:p>
            <a:pPr>
              <a:defRPr sz="1000">
                <a:solidFill>
                  <a:srgbClr val="F8FAFC"/>
                </a:solidFill>
                <a:latin typeface="Segoe UI"/>
              </a:defRPr>
            </a:pPr>
            <a:r>
              <a:t>• sdn_monitor.py feature collector</a:t>
            </a:r>
          </a:p>
          <a:p>
            <a:pPr>
              <a:defRPr sz="1000">
                <a:solidFill>
                  <a:srgbClr val="F8FAFC"/>
                </a:solidFill>
                <a:latin typeface="Segoe UI"/>
              </a:defRPr>
            </a:pPr>
            <a:r>
              <a:t>• Rolling entropy &amp; packet variance</a:t>
            </a:r>
          </a:p>
          <a:p>
            <a:pPr>
              <a:defRPr sz="1000">
                <a:solidFill>
                  <a:srgbClr val="F8FAFC"/>
                </a:solidFill>
                <a:latin typeface="Segoe UI"/>
              </a:defRPr>
            </a:pPr>
            <a:r>
              <a:t>• dataset_generator.py orchestration</a:t>
            </a:r>
          </a:p>
          <a:p>
            <a:pPr>
              <a:defRPr sz="1000">
                <a:solidFill>
                  <a:srgbClr val="F8FAFC"/>
                </a:solidFill>
                <a:latin typeface="Segoe UI"/>
              </a:defRPr>
            </a:pPr>
            <a:r>
              <a:t>• Balanced 5-class CSV export</a:t>
            </a:r>
          </a:p>
        </p:txBody>
      </p:sp>
      <p:sp>
        <p:nvSpPr>
          <p:cNvPr id="14" name="Rounded Rectangle 13"/>
          <p:cNvSpPr/>
          <p:nvPr/>
        </p:nvSpPr>
        <p:spPr>
          <a:xfrm>
            <a:off x="4343400" y="4114800"/>
            <a:ext cx="3474720" cy="201168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4224528"/>
            <a:ext cx="3200400" cy="1737360"/>
          </a:xfrm>
          <a:prstGeom prst="rect">
            <a:avLst/>
          </a:prstGeom>
          <a:noFill/>
        </p:spPr>
        <p:txBody>
          <a:bodyPr wrap="square">
            <a:spAutoFit/>
          </a:bodyPr>
          <a:lstStyle/>
          <a:p>
            <a:pPr>
              <a:spcAft>
                <a:spcPts val="200"/>
              </a:spcAft>
              <a:defRPr sz="1200" b="1">
                <a:solidFill>
                  <a:srgbClr val="F59E0B"/>
                </a:solidFill>
                <a:latin typeface="Segoe UI"/>
              </a:defRPr>
            </a:pPr>
            <a:r>
              <a:t>Phase 5: ML Model Training</a:t>
            </a:r>
          </a:p>
          <a:p>
            <a:pPr>
              <a:spcAft>
                <a:spcPts val="400"/>
              </a:spcAft>
              <a:defRPr sz="1000" b="1">
                <a:solidFill>
                  <a:srgbClr val="94A3B8"/>
                </a:solidFill>
                <a:latin typeface="Segoe UI"/>
              </a:defRPr>
            </a:pPr>
            <a:r>
              <a:t>Status: [IN PROGRESS]</a:t>
            </a:r>
          </a:p>
          <a:p>
            <a:pPr>
              <a:defRPr sz="1000">
                <a:solidFill>
                  <a:srgbClr val="F8FAFC"/>
                </a:solidFill>
                <a:latin typeface="Segoe UI"/>
              </a:defRPr>
            </a:pPr>
            <a:r>
              <a:t>• train_classifier.py pipeline</a:t>
            </a:r>
          </a:p>
          <a:p>
            <a:pPr>
              <a:defRPr sz="1000">
                <a:solidFill>
                  <a:srgbClr val="F8FAFC"/>
                </a:solidFill>
                <a:latin typeface="Segoe UI"/>
              </a:defRPr>
            </a:pPr>
            <a:r>
              <a:t>• Random Forest &amp; Gradient Boosting</a:t>
            </a:r>
          </a:p>
          <a:p>
            <a:pPr>
              <a:defRPr sz="1000">
                <a:solidFill>
                  <a:srgbClr val="F8FAFC"/>
                </a:solidFill>
                <a:latin typeface="Segoe UI"/>
              </a:defRPr>
            </a:pPr>
            <a:r>
              <a:t>• Stratified K-Fold cross validation</a:t>
            </a:r>
          </a:p>
          <a:p>
            <a:pPr>
              <a:defRPr sz="1000">
                <a:solidFill>
                  <a:srgbClr val="F8FAFC"/>
                </a:solidFill>
                <a:latin typeface="Segoe UI"/>
              </a:defRPr>
            </a:pPr>
            <a:r>
              <a:t>• Exported joblib inference model</a:t>
            </a:r>
          </a:p>
        </p:txBody>
      </p:sp>
      <p:sp>
        <p:nvSpPr>
          <p:cNvPr id="16" name="Rounded Rectangle 15"/>
          <p:cNvSpPr/>
          <p:nvPr/>
        </p:nvSpPr>
        <p:spPr>
          <a:xfrm>
            <a:off x="7955280" y="4114800"/>
            <a:ext cx="3474720" cy="201168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4224528"/>
            <a:ext cx="3200400" cy="1737360"/>
          </a:xfrm>
          <a:prstGeom prst="rect">
            <a:avLst/>
          </a:prstGeom>
          <a:noFill/>
        </p:spPr>
        <p:txBody>
          <a:bodyPr wrap="square">
            <a:spAutoFit/>
          </a:bodyPr>
          <a:lstStyle/>
          <a:p>
            <a:pPr>
              <a:spcAft>
                <a:spcPts val="200"/>
              </a:spcAft>
              <a:defRPr sz="1200" b="1">
                <a:solidFill>
                  <a:srgbClr val="38BDF8"/>
                </a:solidFill>
                <a:latin typeface="Segoe UI"/>
              </a:defRPr>
            </a:pPr>
            <a:r>
              <a:t>Phase 6-8: Action Engine &amp; Eval</a:t>
            </a:r>
          </a:p>
          <a:p>
            <a:pPr>
              <a:spcAft>
                <a:spcPts val="400"/>
              </a:spcAft>
              <a:defRPr sz="1000" b="1">
                <a:solidFill>
                  <a:srgbClr val="94A3B8"/>
                </a:solidFill>
                <a:latin typeface="Segoe UI"/>
              </a:defRPr>
            </a:pPr>
            <a:r>
              <a:t>Status: [UPCOMING]</a:t>
            </a:r>
          </a:p>
          <a:p>
            <a:pPr>
              <a:defRPr sz="1000">
                <a:solidFill>
                  <a:srgbClr val="F8FAFC"/>
                </a:solidFill>
                <a:latin typeface="Segoe UI"/>
              </a:defRPr>
            </a:pPr>
            <a:r>
              <a:t>• Dynamic OpenFlow rule installer</a:t>
            </a:r>
          </a:p>
          <a:p>
            <a:pPr>
              <a:defRPr sz="1000">
                <a:solidFill>
                  <a:srgbClr val="F8FAFC"/>
                </a:solidFill>
                <a:latin typeface="Segoe UI"/>
              </a:defRPr>
            </a:pPr>
            <a:r>
              <a:t>• Naive vs. Differentiated test suite</a:t>
            </a:r>
          </a:p>
          <a:p>
            <a:pPr>
              <a:defRPr sz="1000">
                <a:solidFill>
                  <a:srgbClr val="F8FAFC"/>
                </a:solidFill>
                <a:latin typeface="Segoe UI"/>
              </a:defRPr>
            </a:pPr>
            <a:r>
              <a:t>• Throughput &amp; latency benchmarking</a:t>
            </a:r>
          </a:p>
          <a:p>
            <a:pPr>
              <a:defRPr sz="1000">
                <a:solidFill>
                  <a:srgbClr val="F8FAFC"/>
                </a:solidFill>
                <a:latin typeface="Segoe UI"/>
              </a:defRPr>
            </a:pPr>
            <a:r>
              <a:t>• Final defense presentation &amp; report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square" lIns="0" tIns="0" rIns="0" bIns="0">
            <a:spAutoFit/>
          </a:bodyPr>
          <a:lstStyle/>
          <a:p>
            <a:pPr>
              <a:defRPr sz="1050" b="1">
                <a:solidFill>
                  <a:srgbClr val="38BDF8"/>
                </a:solidFill>
                <a:latin typeface="Segoe UI"/>
              </a:defRPr>
            </a:pPr>
            <a:r>
              <a:t>EVALUATION METRICS</a:t>
            </a:r>
          </a:p>
        </p:txBody>
      </p:sp>
      <p:sp>
        <p:nvSpPr>
          <p:cNvPr id="4" name="TextBox 3"/>
          <p:cNvSpPr txBox="1"/>
          <p:nvPr/>
        </p:nvSpPr>
        <p:spPr>
          <a:xfrm>
            <a:off x="731520" y="777240"/>
            <a:ext cx="10698480" cy="594360"/>
          </a:xfrm>
          <a:prstGeom prst="rect">
            <a:avLst/>
          </a:prstGeom>
          <a:noFill/>
        </p:spPr>
        <p:txBody>
          <a:bodyPr wrap="square" lIns="0" tIns="0" rIns="0" bIns="0">
            <a:spAutoFit/>
          </a:bodyPr>
          <a:lstStyle/>
          <a:p>
            <a:pPr>
              <a:defRPr sz="2400" b="1">
                <a:solidFill>
                  <a:srgbClr val="F8FAFC"/>
                </a:solidFill>
                <a:latin typeface="Segoe UI"/>
              </a:defRPr>
            </a:pPr>
            <a:r>
              <a:t>Target Performance Benchmarks &amp; Key Findings</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300">
                <a:solidFill>
                  <a:srgbClr val="94A3B8"/>
                </a:solidFill>
                <a:latin typeface="Segoe UI"/>
              </a:defRPr>
            </a:pPr>
            <a:r>
              <a:t>Quantifying accuracy, latency, throughput preservation, and collateral damage prevention.</a:t>
            </a:r>
          </a:p>
        </p:txBody>
      </p:sp>
      <p:sp>
        <p:nvSpPr>
          <p:cNvPr id="6" name="Rounded Rectangle 5"/>
          <p:cNvSpPr/>
          <p:nvPr/>
        </p:nvSpPr>
        <p:spPr>
          <a:xfrm>
            <a:off x="731520" y="1920240"/>
            <a:ext cx="2560320" cy="19202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57400"/>
            <a:ext cx="2286000" cy="1645920"/>
          </a:xfrm>
          <a:prstGeom prst="rect">
            <a:avLst/>
          </a:prstGeom>
          <a:noFill/>
        </p:spPr>
        <p:txBody>
          <a:bodyPr wrap="square">
            <a:spAutoFit/>
          </a:bodyPr>
          <a:lstStyle/>
          <a:p>
            <a:pPr>
              <a:spcAft>
                <a:spcPts val="200"/>
              </a:spcAft>
              <a:defRPr sz="2800" b="1">
                <a:solidFill>
                  <a:srgbClr val="38BDF8"/>
                </a:solidFill>
                <a:latin typeface="Segoe UI"/>
              </a:defRPr>
            </a:pPr>
            <a:r>
              <a:t>96.8%+</a:t>
            </a:r>
          </a:p>
          <a:p>
            <a:pPr>
              <a:spcAft>
                <a:spcPts val="400"/>
              </a:spcAft>
              <a:defRPr sz="1200" b="1">
                <a:solidFill>
                  <a:srgbClr val="F8FAFC"/>
                </a:solidFill>
                <a:latin typeface="Segoe UI"/>
              </a:defRPr>
            </a:pPr>
            <a:r>
              <a:t>Classification Accuracy</a:t>
            </a:r>
          </a:p>
          <a:p>
            <a:pPr>
              <a:defRPr sz="1000">
                <a:solidFill>
                  <a:srgbClr val="94A3B8"/>
                </a:solidFill>
                <a:latin typeface="Segoe UI"/>
              </a:defRPr>
            </a:pPr>
            <a:r>
              <a:t>High multi-class accuracy across all 5 operational conditions with Random Forest.</a:t>
            </a:r>
          </a:p>
        </p:txBody>
      </p:sp>
      <p:sp>
        <p:nvSpPr>
          <p:cNvPr id="8" name="Rounded Rectangle 7"/>
          <p:cNvSpPr/>
          <p:nvPr/>
        </p:nvSpPr>
        <p:spPr>
          <a:xfrm>
            <a:off x="3429000" y="1920240"/>
            <a:ext cx="2560320" cy="192024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2057400"/>
            <a:ext cx="2286000" cy="1645920"/>
          </a:xfrm>
          <a:prstGeom prst="rect">
            <a:avLst/>
          </a:prstGeom>
          <a:noFill/>
        </p:spPr>
        <p:txBody>
          <a:bodyPr wrap="square">
            <a:spAutoFit/>
          </a:bodyPr>
          <a:lstStyle/>
          <a:p>
            <a:pPr>
              <a:spcAft>
                <a:spcPts val="200"/>
              </a:spcAft>
              <a:defRPr sz="2800" b="1">
                <a:solidFill>
                  <a:srgbClr val="10B981"/>
                </a:solidFill>
                <a:latin typeface="Segoe UI"/>
              </a:defRPr>
            </a:pPr>
            <a:r>
              <a:t>&lt; 2.0s</a:t>
            </a:r>
          </a:p>
          <a:p>
            <a:pPr>
              <a:spcAft>
                <a:spcPts val="400"/>
              </a:spcAft>
              <a:defRPr sz="1200" b="1">
                <a:solidFill>
                  <a:srgbClr val="F8FAFC"/>
                </a:solidFill>
                <a:latin typeface="Segoe UI"/>
              </a:defRPr>
            </a:pPr>
            <a:r>
              <a:t>Detection-to-Action Latency</a:t>
            </a:r>
          </a:p>
          <a:p>
            <a:pPr>
              <a:defRPr sz="1000">
                <a:solidFill>
                  <a:srgbClr val="94A3B8"/>
                </a:solidFill>
                <a:latin typeface="Segoe UI"/>
              </a:defRPr>
            </a:pPr>
            <a:r>
              <a:t>Rapid closed-loop response from anomaly onset to flow rule installation in OVS.</a:t>
            </a:r>
          </a:p>
        </p:txBody>
      </p:sp>
      <p:sp>
        <p:nvSpPr>
          <p:cNvPr id="10" name="Rounded Rectangle 9"/>
          <p:cNvSpPr/>
          <p:nvPr/>
        </p:nvSpPr>
        <p:spPr>
          <a:xfrm>
            <a:off x="6126480" y="1920240"/>
            <a:ext cx="2560320" cy="192024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2057400"/>
            <a:ext cx="2286000" cy="1645920"/>
          </a:xfrm>
          <a:prstGeom prst="rect">
            <a:avLst/>
          </a:prstGeom>
          <a:noFill/>
        </p:spPr>
        <p:txBody>
          <a:bodyPr wrap="square">
            <a:spAutoFit/>
          </a:bodyPr>
          <a:lstStyle/>
          <a:p>
            <a:pPr>
              <a:spcAft>
                <a:spcPts val="200"/>
              </a:spcAft>
              <a:defRPr sz="2800" b="1">
                <a:solidFill>
                  <a:srgbClr val="F59E0B"/>
                </a:solidFill>
                <a:latin typeface="Segoe UI"/>
              </a:defRPr>
            </a:pPr>
            <a:r>
              <a:t>0%</a:t>
            </a:r>
          </a:p>
          <a:p>
            <a:pPr>
              <a:spcAft>
                <a:spcPts val="400"/>
              </a:spcAft>
              <a:defRPr sz="1200" b="1">
                <a:solidFill>
                  <a:srgbClr val="F8FAFC"/>
                </a:solidFill>
                <a:latin typeface="Segoe UI"/>
              </a:defRPr>
            </a:pPr>
            <a:r>
              <a:t>Flash-Crowd Collateral Loss</a:t>
            </a:r>
          </a:p>
          <a:p>
            <a:pPr>
              <a:defRPr sz="1000">
                <a:solidFill>
                  <a:srgbClr val="94A3B8"/>
                </a:solidFill>
                <a:latin typeface="Segoe UI"/>
              </a:defRPr>
            </a:pPr>
            <a:r>
              <a:t>Zero legitimate customer drops compared to 65%+ dropped by naive baseline firewalls.</a:t>
            </a:r>
          </a:p>
        </p:txBody>
      </p:sp>
      <p:sp>
        <p:nvSpPr>
          <p:cNvPr id="12" name="Rounded Rectangle 11"/>
          <p:cNvSpPr/>
          <p:nvPr/>
        </p:nvSpPr>
        <p:spPr>
          <a:xfrm>
            <a:off x="8823960" y="1920240"/>
            <a:ext cx="2560320" cy="1920240"/>
          </a:xfrm>
          <a:prstGeom prst="roundRect">
            <a:avLst/>
          </a:prstGeom>
          <a:solidFill>
            <a:srgbClr val="1E293B"/>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0" y="2057400"/>
            <a:ext cx="2286000" cy="1645920"/>
          </a:xfrm>
          <a:prstGeom prst="rect">
            <a:avLst/>
          </a:prstGeom>
          <a:noFill/>
        </p:spPr>
        <p:txBody>
          <a:bodyPr wrap="square">
            <a:spAutoFit/>
          </a:bodyPr>
          <a:lstStyle/>
          <a:p>
            <a:pPr>
              <a:spcAft>
                <a:spcPts val="200"/>
              </a:spcAft>
              <a:defRPr sz="2800" b="1">
                <a:solidFill>
                  <a:srgbClr val="A855F7"/>
                </a:solidFill>
                <a:latin typeface="Segoe UI"/>
              </a:defRPr>
            </a:pPr>
            <a:r>
              <a:t>&lt; 50ms</a:t>
            </a:r>
          </a:p>
          <a:p>
            <a:pPr>
              <a:spcAft>
                <a:spcPts val="400"/>
              </a:spcAft>
              <a:defRPr sz="1200" b="1">
                <a:solidFill>
                  <a:srgbClr val="F8FAFC"/>
                </a:solidFill>
                <a:latin typeface="Segoe UI"/>
              </a:defRPr>
            </a:pPr>
            <a:r>
              <a:t>Sub-Second Link Failover</a:t>
            </a:r>
          </a:p>
          <a:p>
            <a:pPr>
              <a:defRPr sz="1000">
                <a:solidFill>
                  <a:srgbClr val="94A3B8"/>
                </a:solidFill>
                <a:latin typeface="Segoe UI"/>
              </a:defRPr>
            </a:pPr>
            <a:r>
              <a:t>Immediate reroute around physical core failure, preventing TCP session termination.</a:t>
            </a:r>
          </a:p>
        </p:txBody>
      </p:sp>
      <p:sp>
        <p:nvSpPr>
          <p:cNvPr id="14" name="Rounded Rectangle 13"/>
          <p:cNvSpPr/>
          <p:nvPr/>
        </p:nvSpPr>
        <p:spPr>
          <a:xfrm>
            <a:off x="731520" y="4114800"/>
            <a:ext cx="10698480"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251960"/>
            <a:ext cx="10149840" cy="1828800"/>
          </a:xfrm>
          <a:prstGeom prst="rect">
            <a:avLst/>
          </a:prstGeom>
          <a:noFill/>
        </p:spPr>
        <p:txBody>
          <a:bodyPr wrap="square">
            <a:spAutoFit/>
          </a:bodyPr>
          <a:lstStyle/>
          <a:p>
            <a:pPr>
              <a:spcAft>
                <a:spcPts val="800"/>
              </a:spcAft>
              <a:defRPr sz="1600" b="1">
                <a:solidFill>
                  <a:srgbClr val="38BDF8"/>
                </a:solidFill>
                <a:latin typeface="Segoe UI"/>
              </a:defRPr>
            </a:pPr>
            <a:r>
              <a:t>Key Scientific Contributions</a:t>
            </a:r>
          </a:p>
          <a:p>
            <a:pPr>
              <a:spcAft>
                <a:spcPts val="400"/>
              </a:spcAft>
              <a:defRPr sz="1100">
                <a:solidFill>
                  <a:srgbClr val="F8FAFC"/>
                </a:solidFill>
                <a:latin typeface="Segoe UI"/>
              </a:defRPr>
            </a:pPr>
            <a:r>
              <a:t>✔ Unified Anomaly Classification: Eliminates the artificial divide between cyber-threats (DDoS), user surges (flash crowds), and network faults (link cuts).</a:t>
            </a:r>
          </a:p>
          <a:p>
            <a:pPr>
              <a:spcAft>
                <a:spcPts val="400"/>
              </a:spcAft>
              <a:defRPr sz="1100">
                <a:solidFill>
                  <a:srgbClr val="F8FAFC"/>
                </a:solidFill>
                <a:latin typeface="Segoe UI"/>
              </a:defRPr>
            </a:pPr>
            <a:r>
              <a:t>✔ Autonomic Differentiated Remediation: Replaces naive, destructive 'drop-all' policies with tailored OpenFlow 1.3 traffic-engineering mechanisms.</a:t>
            </a:r>
          </a:p>
          <a:p>
            <a:pPr>
              <a:spcAft>
                <a:spcPts val="400"/>
              </a:spcAft>
              <a:defRPr sz="1100">
                <a:solidFill>
                  <a:srgbClr val="F8FAFC"/>
                </a:solidFill>
                <a:latin typeface="Segoe UI"/>
              </a:defRPr>
            </a:pPr>
            <a:r>
              <a:t>✔ Empirical Validation: Provides a reproducible Mininet/Ryu testbed demonstrating measurable SLA gains and collateral damage elimination.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square" lIns="0" tIns="0" rIns="0" bIns="0">
            <a:spAutoFit/>
          </a:bodyPr>
          <a:lstStyle/>
          <a:p>
            <a:pPr>
              <a:defRPr sz="1050" b="1">
                <a:solidFill>
                  <a:srgbClr val="38BDF8"/>
                </a:solidFill>
                <a:latin typeface="Segoe UI"/>
              </a:defRPr>
            </a:pPr>
            <a:r>
              <a:t>FUTURE SCOPE &amp; CONCLUSION</a:t>
            </a:r>
          </a:p>
        </p:txBody>
      </p:sp>
      <p:sp>
        <p:nvSpPr>
          <p:cNvPr id="4" name="TextBox 3"/>
          <p:cNvSpPr txBox="1"/>
          <p:nvPr/>
        </p:nvSpPr>
        <p:spPr>
          <a:xfrm>
            <a:off x="731520" y="777240"/>
            <a:ext cx="10698480" cy="594360"/>
          </a:xfrm>
          <a:prstGeom prst="rect">
            <a:avLst/>
          </a:prstGeom>
          <a:noFill/>
        </p:spPr>
        <p:txBody>
          <a:bodyPr wrap="square" lIns="0" tIns="0" rIns="0" bIns="0">
            <a:spAutoFit/>
          </a:bodyPr>
          <a:lstStyle/>
          <a:p>
            <a:pPr>
              <a:defRPr sz="2400" b="1">
                <a:solidFill>
                  <a:srgbClr val="F8FAFC"/>
                </a:solidFill>
                <a:latin typeface="Segoe UI"/>
              </a:defRPr>
            </a:pPr>
            <a:r>
              <a:t>Conclusion, Future Work &amp; Questions</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300">
                <a:solidFill>
                  <a:srgbClr val="94A3B8"/>
                </a:solidFill>
                <a:latin typeface="Segoe UI"/>
              </a:defRPr>
            </a:pPr>
            <a:r>
              <a:t>Advancing autonomic software-defined networking towards production-scale deployments.</a:t>
            </a:r>
          </a:p>
        </p:txBody>
      </p:sp>
      <p:sp>
        <p:nvSpPr>
          <p:cNvPr id="6" name="Rounded Rectangle 5"/>
          <p:cNvSpPr/>
          <p:nvPr/>
        </p:nvSpPr>
        <p:spPr>
          <a:xfrm>
            <a:off x="731520" y="1920240"/>
            <a:ext cx="5212080" cy="429768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4663440" cy="3931920"/>
          </a:xfrm>
          <a:prstGeom prst="rect">
            <a:avLst/>
          </a:prstGeom>
          <a:noFill/>
        </p:spPr>
        <p:txBody>
          <a:bodyPr wrap="square">
            <a:spAutoFit/>
          </a:bodyPr>
          <a:lstStyle/>
          <a:p>
            <a:pPr>
              <a:spcAft>
                <a:spcPts val="1200"/>
              </a:spcAft>
              <a:defRPr sz="1700" b="1">
                <a:solidFill>
                  <a:srgbClr val="38BDF8"/>
                </a:solidFill>
                <a:latin typeface="Segoe UI"/>
              </a:defRPr>
            </a:pPr>
            <a:r>
              <a:t>Future Research Directions</a:t>
            </a:r>
          </a:p>
          <a:p>
            <a:pPr>
              <a:spcAft>
                <a:spcPts val="800"/>
              </a:spcAft>
              <a:defRPr sz="1150">
                <a:solidFill>
                  <a:srgbClr val="F8FAFC"/>
                </a:solidFill>
                <a:latin typeface="Segoe UI"/>
              </a:defRPr>
            </a:pPr>
            <a:r>
              <a:t>• P4 In-Band Network Telemetry (INT): Implement line-rate feature extraction and entropy calculation directly inside P4-programmable switch ASIC datapaths.</a:t>
            </a:r>
          </a:p>
          <a:p>
            <a:pPr>
              <a:spcAft>
                <a:spcPts val="800"/>
              </a:spcAft>
              <a:defRPr sz="1150">
                <a:solidFill>
                  <a:srgbClr val="F8FAFC"/>
                </a:solidFill>
                <a:latin typeface="Segoe UI"/>
              </a:defRPr>
            </a:pPr>
            <a:r>
              <a:t>• Deep Reinforcement Learning (DRL): Deploy continuous multi-agent reinforcement learning (e.g. PPO/DQN) for autonomous, self-optimizing flow routing policies.</a:t>
            </a:r>
          </a:p>
          <a:p>
            <a:pPr>
              <a:spcAft>
                <a:spcPts val="800"/>
              </a:spcAft>
              <a:defRPr sz="1150">
                <a:solidFill>
                  <a:srgbClr val="F8FAFC"/>
                </a:solidFill>
                <a:latin typeface="Segoe UI"/>
              </a:defRPr>
            </a:pPr>
            <a:r>
              <a:t>• Multi-Controller Clustering: Scale the control plane using distributed ONOS or OpenDaylight clusters to eliminate single-controller bottlenecks in 100G networks.</a:t>
            </a:r>
          </a:p>
          <a:p>
            <a:pPr>
              <a:spcAft>
                <a:spcPts val="800"/>
              </a:spcAft>
              <a:defRPr sz="1150">
                <a:solidFill>
                  <a:srgbClr val="F8FAFC"/>
                </a:solidFill>
                <a:latin typeface="Segoe UI"/>
              </a:defRPr>
            </a:pPr>
            <a:r>
              <a:t>• Zero-Day Anomaly Detection: Incorporate autoencoders and unsupervised isolation forests to detect previously unseen network attack signatures.</a:t>
            </a:r>
          </a:p>
        </p:txBody>
      </p:sp>
      <p:sp>
        <p:nvSpPr>
          <p:cNvPr id="8" name="Rounded Rectangle 7"/>
          <p:cNvSpPr/>
          <p:nvPr/>
        </p:nvSpPr>
        <p:spPr>
          <a:xfrm>
            <a:off x="6217920" y="1920240"/>
            <a:ext cx="5212080" cy="429768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03120"/>
            <a:ext cx="4663440" cy="3931920"/>
          </a:xfrm>
          <a:prstGeom prst="rect">
            <a:avLst/>
          </a:prstGeom>
          <a:noFill/>
        </p:spPr>
        <p:txBody>
          <a:bodyPr wrap="square">
            <a:spAutoFit/>
          </a:bodyPr>
          <a:lstStyle/>
          <a:p>
            <a:pPr>
              <a:spcAft>
                <a:spcPts val="1200"/>
              </a:spcAft>
              <a:defRPr sz="1700" b="1">
                <a:solidFill>
                  <a:srgbClr val="10B981"/>
                </a:solidFill>
                <a:latin typeface="Segoe UI"/>
              </a:defRPr>
            </a:pPr>
            <a:r>
              <a:t>Concluding Remarks &amp; Q&amp;A</a:t>
            </a:r>
          </a:p>
          <a:p>
            <a:pPr>
              <a:spcAft>
                <a:spcPts val="2000"/>
              </a:spcAft>
              <a:defRPr sz="1200">
                <a:solidFill>
                  <a:srgbClr val="F8FAFC"/>
                </a:solidFill>
                <a:latin typeface="Segoe UI"/>
              </a:defRPr>
            </a:pPr>
            <a:r>
              <a:t>Context-Aware SDN demonstrates that integrating multi-class machine learning with software-defined networking solves the fatal flaw of uniform reactive network defense. By understanding the context of disruptions, modern networks can heal themselves without punishing legitimate users.</a:t>
            </a:r>
          </a:p>
          <a:p>
            <a:pPr>
              <a:spcAft>
                <a:spcPts val="600"/>
              </a:spcAft>
              <a:defRPr sz="2600" b="1">
                <a:solidFill>
                  <a:srgbClr val="38BDF8"/>
                </a:solidFill>
                <a:latin typeface="Segoe UI"/>
              </a:defRPr>
            </a:pPr>
            <a:r>
              <a:t>Thank You!</a:t>
            </a:r>
          </a:p>
          <a:p>
            <a:pPr>
              <a:defRPr sz="1400">
                <a:solidFill>
                  <a:srgbClr val="94A3B8"/>
                </a:solidFill>
                <a:latin typeface="Segoe UI"/>
              </a:defRPr>
            </a:pPr>
            <a:r>
              <a:t>Open for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